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3"/>
  </p:notesMasterIdLst>
  <p:sldIdLst>
    <p:sldId id="257" r:id="rId3"/>
    <p:sldId id="263" r:id="rId9"/>
    <p:sldId id="261" r:id="rId7"/>
    <p:sldId id="269" r:id="rId15"/>
    <p:sldId id="291" r:id="rId37"/>
    <p:sldId id="308" r:id="rId54"/>
    <p:sldId id="292" r:id="rId38"/>
    <p:sldId id="271" r:id="rId17"/>
    <p:sldId id="260" r:id="rId6"/>
    <p:sldId id="281" r:id="rId27"/>
    <p:sldId id="293" r:id="rId39"/>
    <p:sldId id="300" r:id="rId46"/>
    <p:sldId id="346" r:id="rId92"/>
  </p:sldIdLst>
  <p:sldSz cx="9144000" cy="5143500" type="screen16x9"/>
  <p:notesSz cx="6858000" cy="9144000"/>
  <p:embeddedFontLst>
    <p:embeddedFont>
      <p:font typeface="Ole" panose="020B0604020202020204" charset="0"/>
      <p:regular r:id="rId94"/>
    </p:embeddedFont>
    <p:embeddedFont>
      <p:font typeface="Plus Jakarta Sans" panose="020B0604020202020204" charset="0"/>
      <p:regular r:id="rId95"/>
      <p:bold r:id="rId96"/>
      <p:italic r:id="rId97"/>
      <p:boldItalic r:id="rId98"/>
    </p:embeddedFont>
    <p:embeddedFont>
      <p:font typeface="Plus Jakarta Sans Medium" panose="020B0604020202020204" charset="0"/>
      <p:regular r:id="rId99"/>
      <p:bold r:id="rId100"/>
      <p:italic r:id="rId101"/>
      <p:boldItalic r:id="rId102"/>
    </p:embeddedFont>
    <p:embeddedFont>
      <p:font typeface="Plus Jakarta Sans SemiBold" panose="020B0604020202020204" charset="0"/>
      <p:regular r:id="rId103"/>
      <p:bold r:id="rId104"/>
      <p:italic r:id="rId105"/>
      <p:boldItalic r:id="rId106"/>
    </p:embeddedFont>
    <p:embeddedFont>
      <p:font typeface="Times" panose="02020603050405020304" pitchFamily="18" charset="0"/>
      <p:regular r:id="rId107"/>
      <p:bold r:id="rId108"/>
      <p:italic r:id="rId109"/>
      <p:boldItalic r:id="rId1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04">
          <p15:clr>
            <a:srgbClr val="A4A3A4"/>
          </p15:clr>
        </p15:guide>
        <p15:guide id="2" orient="horz" pos="1476">
          <p15:clr>
            <a:srgbClr val="A4A3A4"/>
          </p15:clr>
        </p15:guide>
        <p15:guide id="3" orient="horz" pos="804">
          <p15:clr>
            <a:srgbClr val="A4A3A4"/>
          </p15:clr>
        </p15:guide>
        <p15:guide id="4" orient="horz" pos="276">
          <p15:clr>
            <a:srgbClr val="A4A3A4"/>
          </p15:clr>
        </p15:guide>
        <p15:guide id="5" orient="horz" pos="468">
          <p15:clr>
            <a:srgbClr val="A4A3A4"/>
          </p15:clr>
        </p15:guide>
        <p15:guide id="6" pos="5712">
          <p15:clr>
            <a:srgbClr val="A4A3A4"/>
          </p15:clr>
        </p15:guide>
        <p15:guide id="7" pos="5376">
          <p15:clr>
            <a:srgbClr val="A4A3A4"/>
          </p15:clr>
        </p15:guide>
        <p15:guide id="8" pos="2880">
          <p15:clr>
            <a:srgbClr val="A4A3A4"/>
          </p15:clr>
        </p15:guide>
        <p15:guide id="9" pos="48">
          <p15:clr>
            <a:srgbClr val="A4A3A4"/>
          </p15:clr>
        </p15:guide>
        <p15:guide id="10" pos="336">
          <p15:clr>
            <a:srgbClr val="A4A3A4"/>
          </p15:clr>
        </p15:guide>
        <p15:guide id="11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1" roundtripDataSignature="AMtx7miLSRnOSmhY2gyh+kCXJIdXkge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79CD32-E933-4B66-8D35-4C9BEE16DE1A}">
  <a:tblStyle styleId="{FD79CD32-E933-4B66-8D35-4C9BEE16DE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3A5DC57-7C82-4F3E-A7F8-03993498D41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9E6"/>
          </a:solidFill>
        </a:fill>
      </a:tcStyle>
    </a:wholeTbl>
    <a:band1H>
      <a:tcTxStyle b="off" i="off"/>
      <a:tcStyle>
        <a:tcBdr/>
        <a:fill>
          <a:solidFill>
            <a:srgbClr val="FFD0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D0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78" autoAdjust="0"/>
  </p:normalViewPr>
  <p:slideViewPr>
    <p:cSldViewPr snapToGrid="0">
      <p:cViewPr>
        <p:scale>
          <a:sx n="66" d="100"/>
          <a:sy n="66" d="100"/>
        </p:scale>
        <p:origin x="1238" y="955"/>
      </p:cViewPr>
      <p:guideLst>
        <p:guide orient="horz" pos="3204"/>
        <p:guide orient="horz" pos="1476"/>
        <p:guide orient="horz" pos="804"/>
        <p:guide orient="horz" pos="276"/>
        <p:guide orient="horz" pos="468"/>
        <p:guide pos="5712"/>
        <p:guide pos="5376"/>
        <p:guide pos="2880"/>
        <p:guide pos="48"/>
        <p:guide pos="336"/>
        <p:guide pos="3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27" Type="http://schemas.openxmlformats.org/officeDocument/2006/relationships/slide" Target="slides/slide26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6" Type="http://schemas.openxmlformats.org/officeDocument/2006/relationships/slide" Target="slides/slide45.xml"/><Relationship Id="rId54" Type="http://schemas.openxmlformats.org/officeDocument/2006/relationships/slide" Target="slides/slide53.xml"/><Relationship Id="rId92" Type="http://schemas.openxmlformats.org/officeDocument/2006/relationships/slide" Target="slides/slide91.xml"/><Relationship Id="rId93" Type="http://schemas.openxmlformats.org/officeDocument/2006/relationships/notesMaster" Target="notesMasters/notesMaster1.xml"/><Relationship Id="rId94" Type="http://schemas.openxmlformats.org/officeDocument/2006/relationships/font" Target="fonts/font1.fntdata"/><Relationship Id="rId95" Type="http://schemas.openxmlformats.org/officeDocument/2006/relationships/font" Target="fonts/font2.fntdata"/><Relationship Id="rId96" Type="http://schemas.openxmlformats.org/officeDocument/2006/relationships/font" Target="fonts/font3.fntdata"/><Relationship Id="rId97" Type="http://schemas.openxmlformats.org/officeDocument/2006/relationships/font" Target="fonts/font4.fntdata"/><Relationship Id="rId98" Type="http://schemas.openxmlformats.org/officeDocument/2006/relationships/font" Target="fonts/font5.fntdata"/><Relationship Id="rId99" Type="http://schemas.openxmlformats.org/officeDocument/2006/relationships/font" Target="fonts/font6.fntdata"/><Relationship Id="rId100" Type="http://schemas.openxmlformats.org/officeDocument/2006/relationships/font" Target="fonts/font7.fntdata"/><Relationship Id="rId101" Type="http://schemas.openxmlformats.org/officeDocument/2006/relationships/font" Target="fonts/font8.fntdata"/><Relationship Id="rId102" Type="http://schemas.openxmlformats.org/officeDocument/2006/relationships/font" Target="fonts/font9.fntdata"/><Relationship Id="rId103" Type="http://schemas.openxmlformats.org/officeDocument/2006/relationships/font" Target="fonts/font10.fntdata"/><Relationship Id="rId104" Type="http://schemas.openxmlformats.org/officeDocument/2006/relationships/font" Target="fonts/font11.fntdata"/><Relationship Id="rId105" Type="http://schemas.openxmlformats.org/officeDocument/2006/relationships/font" Target="fonts/font12.fntdata"/><Relationship Id="rId106" Type="http://schemas.openxmlformats.org/officeDocument/2006/relationships/font" Target="fonts/font13.fntdata"/><Relationship Id="rId107" Type="http://schemas.openxmlformats.org/officeDocument/2006/relationships/font" Target="fonts/font14.fntdata"/><Relationship Id="rId108" Type="http://schemas.openxmlformats.org/officeDocument/2006/relationships/font" Target="fonts/font15.fntdata"/><Relationship Id="rId109" Type="http://schemas.openxmlformats.org/officeDocument/2006/relationships/font" Target="fonts/font16.fntdata"/><Relationship Id="rId110" Type="http://schemas.openxmlformats.org/officeDocument/2006/relationships/font" Target="fonts/font17.fntdata"/><Relationship Id="rId111" Type="http://customschemas.google.com/relationships/presentationmetadata" Target="metadata"/><Relationship Id="rId112" Type="http://schemas.openxmlformats.org/officeDocument/2006/relationships/presProps" Target="presProps.xml"/><Relationship Id="rId113" Type="http://schemas.openxmlformats.org/officeDocument/2006/relationships/viewProps" Target="viewProps.xml"/><Relationship Id="rId114" Type="http://schemas.openxmlformats.org/officeDocument/2006/relationships/theme" Target="theme/theme1.xml"/><Relationship Id="rId1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le"/>
              <a:ea typeface="Ole"/>
              <a:cs typeface="Ole"/>
              <a:sym typeface="Ol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6" name="Google Shape;3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7" name="Google Shape;35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4" name="Google Shape;36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8" name="Google Shape;37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2" name="Google Shape;4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7" name="Google Shape;4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3" name="Google Shape;5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9" name="Google Shape;629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7" name="Google Shape;637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4" name="Google Shape;64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9" name="Google Shape;70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7" name="Google Shape;79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8" name="Google Shape;2118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19" name="Google Shape;2119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| White">
  <p:cSld name="6_Title Only_3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9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9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3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93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Right | Twilight">
  <p:cSld name="4_Custom Layout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4"/>
          <p:cNvSpPr txBox="1">
            <a:spLocks noGrp="1"/>
          </p:cNvSpPr>
          <p:nvPr>
            <p:ph type="body" idx="1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sz="1300" b="0" i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94"/>
          <p:cNvPicPr preferRelativeResize="0"/>
          <p:nvPr/>
        </p:nvPicPr>
        <p:blipFill rotWithShape="1">
          <a:blip r:embed="rId3">
            <a:alphaModFix/>
          </a:blip>
          <a:srcRect l="36259" t="3129" r="-4649" b="1166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4"/>
          <p:cNvSpPr txBox="1">
            <a:spLocks noGrp="1"/>
          </p:cNvSpPr>
          <p:nvPr>
            <p:ph type="title"/>
          </p:nvPr>
        </p:nvSpPr>
        <p:spPr>
          <a:xfrm>
            <a:off x="6096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4"/>
          <p:cNvSpPr txBox="1">
            <a:spLocks noGrp="1"/>
          </p:cNvSpPr>
          <p:nvPr>
            <p:ph type="body" idx="2"/>
          </p:nvPr>
        </p:nvSpPr>
        <p:spPr>
          <a:xfrm>
            <a:off x="6096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4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Blue Nodes on the Right">
  <p:cSld name="3_Custom Layou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5"/>
          <p:cNvSpPr txBox="1">
            <a:spLocks noGrp="1"/>
          </p:cNvSpPr>
          <p:nvPr>
            <p:ph type="body" idx="1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sz="1300" b="0" i="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95"/>
          <p:cNvSpPr txBox="1">
            <a:spLocks noGrp="1"/>
          </p:cNvSpPr>
          <p:nvPr>
            <p:ph type="body" idx="2"/>
          </p:nvPr>
        </p:nvSpPr>
        <p:spPr>
          <a:xfrm>
            <a:off x="6096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95"/>
          <p:cNvPicPr preferRelativeResize="0"/>
          <p:nvPr/>
        </p:nvPicPr>
        <p:blipFill rotWithShape="1">
          <a:blip r:embed="rId3">
            <a:alphaModFix/>
          </a:blip>
          <a:srcRect l="36259" t="3129" r="-4649" b="1166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95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" name="Google Shape;32;p95"/>
          <p:cNvSpPr txBox="1">
            <a:spLocks noGrp="1"/>
          </p:cNvSpPr>
          <p:nvPr>
            <p:ph type="title"/>
          </p:nvPr>
        </p:nvSpPr>
        <p:spPr>
          <a:xfrm>
            <a:off x="6096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White ">
  <p:cSld name="30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6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96"/>
          <p:cNvPicPr preferRelativeResize="0"/>
          <p:nvPr/>
        </p:nvPicPr>
        <p:blipFill rotWithShape="1">
          <a:blip r:embed="rId3">
            <a:alphaModFix/>
          </a:blip>
          <a:srcRect l="108" t="17596" r="31188" b="47312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6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" name="Google Shape;38;p96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96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sz="2300" b="0" i="0">
                <a:solidFill>
                  <a:srgbClr val="12004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Orange">
  <p:cSld name="38_Title and Content">
    <p:bg>
      <p:bgPr>
        <a:solidFill>
          <a:schemeClr val="accen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7"/>
          <p:cNvPicPr preferRelativeResize="0"/>
          <p:nvPr/>
        </p:nvPicPr>
        <p:blipFill rotWithShape="1">
          <a:blip r:embed="rId2">
            <a:alphaModFix/>
          </a:blip>
          <a:srcRect t="17801" r="31295" b="47334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7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44" name="Google Shape;4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7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Twilight">
  <p:cSld name="44_Title and Content">
    <p:bg>
      <p:bgPr>
        <a:solidFill>
          <a:schemeClr val="dk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8"/>
          <p:cNvPicPr preferRelativeResize="0"/>
          <p:nvPr/>
        </p:nvPicPr>
        <p:blipFill rotWithShape="1">
          <a:blip r:embed="rId2">
            <a:alphaModFix/>
          </a:blip>
          <a:srcRect t="17732" r="31295" b="47181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8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0" name="Google Shape;50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8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Slide | Nodes at the Bottom | Orange">
  <p:cSld name="4_Custom Layout_1_1">
    <p:bg>
      <p:bgPr>
        <a:solidFill>
          <a:schemeClr val="accen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9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4" name="Google Shape;54;p99"/>
          <p:cNvPicPr preferRelativeResize="0"/>
          <p:nvPr/>
        </p:nvPicPr>
        <p:blipFill rotWithShape="1">
          <a:blip r:embed="rId2">
            <a:alphaModFix/>
          </a:blip>
          <a:srcRect l="16421" t="662" r="40903" b="3386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9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99"/>
          <p:cNvSpPr txBox="1">
            <a:spLocks noGrp="1"/>
          </p:cNvSpPr>
          <p:nvPr>
            <p:ph type="title"/>
          </p:nvPr>
        </p:nvSpPr>
        <p:spPr>
          <a:xfrm>
            <a:off x="6096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body" idx="1"/>
          </p:nvPr>
        </p:nvSpPr>
        <p:spPr>
          <a:xfrm>
            <a:off x="6096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8" name="Google Shape;5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White">
  <p:cSld name="6_Title Only_2_3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0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0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0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Twilight">
  <p:cSld name="6_Title Only_2_3">
    <p:bg>
      <p:bgPr>
        <a:solidFill>
          <a:schemeClr val="accent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0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1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| Twilight">
  <p:cSld name="6_Title Only_3_1_2"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0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">
  <p:cSld name="6_Title Only_3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3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0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0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body" idx="3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03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 | Twilight">
  <p:cSld name="6_Title Only_3_1_1_1">
    <p:bg>
      <p:bgPr>
        <a:solidFill>
          <a:schemeClr val="dk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4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0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0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4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04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04"/>
          <p:cNvSpPr txBox="1">
            <a:spLocks noGrp="1"/>
          </p:cNvSpPr>
          <p:nvPr>
            <p:ph type="body" idx="3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04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Right">
  <p:cSld name="6_Title Only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5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05"/>
          <p:cNvSpPr>
            <a:spLocks noGrp="1"/>
          </p:cNvSpPr>
          <p:nvPr>
            <p:ph type="pic" idx="2"/>
          </p:nvPr>
        </p:nvSpPr>
        <p:spPr>
          <a:xfrm>
            <a:off x="4600100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</p:sp>
      <p:sp>
        <p:nvSpPr>
          <p:cNvPr id="96" name="Google Shape;96;p10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05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05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Right | Twilight">
  <p:cSld name="6_Title Only_1_2">
    <p:bg>
      <p:bgPr>
        <a:solidFill>
          <a:schemeClr val="dk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6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8931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06"/>
          <p:cNvSpPr>
            <a:spLocks noGrp="1"/>
          </p:cNvSpPr>
          <p:nvPr>
            <p:ph type="pic" idx="2"/>
          </p:nvPr>
        </p:nvSpPr>
        <p:spPr>
          <a:xfrm>
            <a:off x="4600100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</p:sp>
      <p:sp>
        <p:nvSpPr>
          <p:cNvPr id="103" name="Google Shape;103;p10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0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06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Left">
  <p:cSld name="6_Title Only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7"/>
          <p:cNvSpPr txBox="1">
            <a:spLocks noGrp="1"/>
          </p:cNvSpPr>
          <p:nvPr>
            <p:ph type="body" idx="1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07"/>
          <p:cNvSpPr>
            <a:spLocks noGrp="1"/>
          </p:cNvSpPr>
          <p:nvPr>
            <p:ph type="pic" idx="2"/>
          </p:nvPr>
        </p:nvSpPr>
        <p:spPr>
          <a:xfrm>
            <a:off x="625675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</p:sp>
      <p:sp>
        <p:nvSpPr>
          <p:cNvPr id="110" name="Google Shape;110;p10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0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7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07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Left Side Image Right">
  <p:cSld name="7_Title Only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8"/>
          <p:cNvSpPr>
            <a:spLocks noGrp="1"/>
          </p:cNvSpPr>
          <p:nvPr>
            <p:ph type="pic" idx="2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8"/>
          <p:cNvSpPr txBox="1">
            <a:spLocks noGrp="1"/>
          </p:cNvSpPr>
          <p:nvPr>
            <p:ph type="body" idx="1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0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8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08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Left Side Image Right | Twilight">
  <p:cSld name="7_Title Only_1_3"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9"/>
          <p:cNvSpPr>
            <a:spLocks noGrp="1"/>
          </p:cNvSpPr>
          <p:nvPr>
            <p:ph type="pic" idx="2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9"/>
          <p:cNvSpPr txBox="1">
            <a:spLocks noGrp="1"/>
          </p:cNvSpPr>
          <p:nvPr>
            <p:ph type="body" idx="1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0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9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109"/>
          <p:cNvSpPr txBox="1">
            <a:spLocks noGrp="1"/>
          </p:cNvSpPr>
          <p:nvPr>
            <p:ph type="body" idx="3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Right Side Image Left">
  <p:cSld name="7_Title Only_1_2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0"/>
          <p:cNvSpPr txBox="1">
            <a:spLocks noGrp="1"/>
          </p:cNvSpPr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10"/>
          <p:cNvSpPr txBox="1">
            <a:spLocks noGrp="1"/>
          </p:cNvSpPr>
          <p:nvPr>
            <p:ph type="body" idx="1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10"/>
          <p:cNvSpPr/>
          <p:nvPr/>
        </p:nvSpPr>
        <p:spPr>
          <a:xfrm>
            <a:off x="38794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1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10"/>
          <p:cNvSpPr>
            <a:spLocks noGrp="1"/>
          </p:cNvSpPr>
          <p:nvPr>
            <p:ph type="pic" idx="2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10"/>
          <p:cNvSpPr txBox="1">
            <a:spLocks noGrp="1"/>
          </p:cNvSpPr>
          <p:nvPr>
            <p:ph type="body" idx="3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Right Side Image Left | Twilight">
  <p:cSld name="7_Title Only_1_2_1">
    <p:bg>
      <p:bgPr>
        <a:solidFill>
          <a:schemeClr val="dk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1"/>
          <p:cNvSpPr txBox="1">
            <a:spLocks noGrp="1"/>
          </p:cNvSpPr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11"/>
          <p:cNvSpPr txBox="1">
            <a:spLocks noGrp="1"/>
          </p:cNvSpPr>
          <p:nvPr>
            <p:ph type="body" idx="1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1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1"/>
          <p:cNvSpPr>
            <a:spLocks noGrp="1"/>
          </p:cNvSpPr>
          <p:nvPr>
            <p:ph type="pic" idx="2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11"/>
          <p:cNvSpPr txBox="1">
            <a:spLocks noGrp="1"/>
          </p:cNvSpPr>
          <p:nvPr>
            <p:ph type="body" idx="3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Layout">
  <p:cSld name="10_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2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12"/>
          <p:cNvSpPr txBox="1">
            <a:spLocks noGrp="1"/>
          </p:cNvSpPr>
          <p:nvPr>
            <p:ph type="body" idx="2"/>
          </p:nvPr>
        </p:nvSpPr>
        <p:spPr>
          <a:xfrm>
            <a:off x="3165987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12"/>
          <p:cNvSpPr txBox="1">
            <a:spLocks noGrp="1"/>
          </p:cNvSpPr>
          <p:nvPr>
            <p:ph type="body" idx="3"/>
          </p:nvPr>
        </p:nvSpPr>
        <p:spPr>
          <a:xfrm>
            <a:off x="5798575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1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12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Layout | Twilight">
  <p:cSld name="10_Title Only_1">
    <p:bg>
      <p:bgPr>
        <a:solidFill>
          <a:schemeClr val="dk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3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13"/>
          <p:cNvSpPr txBox="1">
            <a:spLocks noGrp="1"/>
          </p:cNvSpPr>
          <p:nvPr>
            <p:ph type="body" idx="2"/>
          </p:nvPr>
        </p:nvSpPr>
        <p:spPr>
          <a:xfrm>
            <a:off x="3165987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13"/>
          <p:cNvSpPr txBox="1">
            <a:spLocks noGrp="1"/>
          </p:cNvSpPr>
          <p:nvPr>
            <p:ph type="body" idx="3"/>
          </p:nvPr>
        </p:nvSpPr>
        <p:spPr>
          <a:xfrm>
            <a:off x="5798575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1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113"/>
          <p:cNvSpPr txBox="1">
            <a:spLocks noGrp="1"/>
          </p:cNvSpPr>
          <p:nvPr>
            <p:ph type="body" idx="4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Background Nodes Top Right 2">
  <p:cSld name="32_Title and Content_1">
    <p:bg>
      <p:bgPr>
        <a:solidFill>
          <a:schemeClr val="accen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4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1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4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114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63" name="Google Shape;163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Image | White">
  <p:cSld name="7_Title Only_1_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5"/>
          <p:cNvSpPr/>
          <p:nvPr/>
        </p:nvSpPr>
        <p:spPr>
          <a:xfrm>
            <a:off x="297925" y="3329814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15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p115"/>
          <p:cNvSpPr txBox="1">
            <a:spLocks noGrp="1"/>
          </p:cNvSpPr>
          <p:nvPr>
            <p:ph type="body" idx="1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115"/>
          <p:cNvSpPr txBox="1">
            <a:spLocks noGrp="1"/>
          </p:cNvSpPr>
          <p:nvPr>
            <p:ph type="body" idx="2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15"/>
          <p:cNvSpPr txBox="1">
            <a:spLocks noGrp="1"/>
          </p:cNvSpPr>
          <p:nvPr>
            <p:ph type="body" idx="3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1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5"/>
          <p:cNvSpPr>
            <a:spLocks noGrp="1"/>
          </p:cNvSpPr>
          <p:nvPr>
            <p:ph type="pic" idx="4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11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15"/>
          <p:cNvSpPr txBox="1">
            <a:spLocks noGrp="1"/>
          </p:cNvSpPr>
          <p:nvPr>
            <p:ph type="body" idx="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Image | Twilight">
  <p:cSld name="7_Title Only_1_1_2"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116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116"/>
          <p:cNvSpPr txBox="1">
            <a:spLocks noGrp="1"/>
          </p:cNvSpPr>
          <p:nvPr>
            <p:ph type="body" idx="1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116"/>
          <p:cNvSpPr txBox="1">
            <a:spLocks noGrp="1"/>
          </p:cNvSpPr>
          <p:nvPr>
            <p:ph type="body" idx="2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16"/>
          <p:cNvSpPr txBox="1">
            <a:spLocks noGrp="1"/>
          </p:cNvSpPr>
          <p:nvPr>
            <p:ph type="body" idx="3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11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6"/>
          <p:cNvSpPr>
            <a:spLocks noGrp="1"/>
          </p:cNvSpPr>
          <p:nvPr>
            <p:ph type="pic" idx="4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1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16"/>
          <p:cNvSpPr txBox="1">
            <a:spLocks noGrp="1"/>
          </p:cNvSpPr>
          <p:nvPr>
            <p:ph type="body" idx="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Twilight">
  <p:cSld name="7_Title Only_1_1_1">
    <p:bg>
      <p:bgPr>
        <a:solidFill>
          <a:schemeClr val="dk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17"/>
          <p:cNvPicPr preferRelativeResize="0"/>
          <p:nvPr/>
        </p:nvPicPr>
        <p:blipFill rotWithShape="1">
          <a:blip r:embed="rId2">
            <a:alphaModFix/>
          </a:blip>
          <a:srcRect b="7628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17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" name="Google Shape;187;p117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8" name="Google Shape;188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117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117"/>
          <p:cNvSpPr txBox="1">
            <a:spLocks noGrp="1"/>
          </p:cNvSpPr>
          <p:nvPr>
            <p:ph type="body" idx="1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17"/>
          <p:cNvSpPr txBox="1">
            <a:spLocks noGrp="1"/>
          </p:cNvSpPr>
          <p:nvPr>
            <p:ph type="body" idx="2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17"/>
          <p:cNvSpPr txBox="1">
            <a:spLocks noGrp="1"/>
          </p:cNvSpPr>
          <p:nvPr>
            <p:ph type="body" idx="3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1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1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7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Orange">
  <p:cSld name="7_Title Only_1_1_1_1">
    <p:bg>
      <p:bgPr>
        <a:solidFill>
          <a:schemeClr val="accen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118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118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00" name="Google Shape;200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118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18"/>
          <p:cNvSpPr txBox="1">
            <a:spLocks noGrp="1"/>
          </p:cNvSpPr>
          <p:nvPr>
            <p:ph type="body" idx="1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18"/>
          <p:cNvSpPr txBox="1">
            <a:spLocks noGrp="1"/>
          </p:cNvSpPr>
          <p:nvPr>
            <p:ph type="body" idx="2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18"/>
          <p:cNvSpPr txBox="1">
            <a:spLocks noGrp="1"/>
          </p:cNvSpPr>
          <p:nvPr>
            <p:ph type="body" idx="3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11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White">
  <p:cSld name="7_Title Only_1_1_1_1_1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9"/>
          <p:cNvPicPr preferRelativeResize="0"/>
          <p:nvPr/>
        </p:nvPicPr>
        <p:blipFill rotWithShape="1">
          <a:blip r:embed="rId2">
            <a:alphaModFix/>
          </a:blip>
          <a:srcRect t="426" b="41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19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19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2" name="Google Shape;212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119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119"/>
          <p:cNvSpPr txBox="1">
            <a:spLocks noGrp="1"/>
          </p:cNvSpPr>
          <p:nvPr>
            <p:ph type="body" idx="1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119"/>
          <p:cNvSpPr txBox="1">
            <a:spLocks noGrp="1"/>
          </p:cNvSpPr>
          <p:nvPr>
            <p:ph type="body" idx="2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19"/>
          <p:cNvSpPr txBox="1">
            <a:spLocks noGrp="1"/>
          </p:cNvSpPr>
          <p:nvPr>
            <p:ph type="body" idx="3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1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 </a:t>
            </a:r>
            <a:endParaRPr sz="600" b="0" i="0" u="none" strike="noStrike" cap="non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Nodes Top Right 1">
  <p:cSld name="39_Title and Content_1">
    <p:bg>
      <p:bgPr>
        <a:solidFill>
          <a:schemeClr val="lt1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0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20"/>
          <p:cNvSpPr txBox="1">
            <a:spLocks noGrp="1"/>
          </p:cNvSpPr>
          <p:nvPr>
            <p:ph type="ftr" idx="11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12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20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0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20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7" name="Google Shape;227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ilight Background Nodes Top Right 2">
  <p:cSld name="41_Title and Content_1">
    <p:bg>
      <p:bgPr>
        <a:solidFill>
          <a:schemeClr val="dk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1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12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21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1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21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4" name="Google Shape;234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y Nodes Top Right">
  <p:cSld name="6_Title Only_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2"/>
          <p:cNvSpPr txBox="1">
            <a:spLocks noGrp="1"/>
          </p:cNvSpPr>
          <p:nvPr>
            <p:ph type="body" idx="1"/>
          </p:nvPr>
        </p:nvSpPr>
        <p:spPr>
          <a:xfrm>
            <a:off x="533400" y="1370008"/>
            <a:ext cx="80010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1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2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22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1" name="Google Shape;241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| Twilight">
  <p:cSld name="9_Title Only_2">
    <p:bg>
      <p:bgPr>
        <a:solidFill>
          <a:schemeClr val="dk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3"/>
          <p:cNvSpPr txBox="1">
            <a:spLocks noGrp="1"/>
          </p:cNvSpPr>
          <p:nvPr>
            <p:ph type="body" idx="1"/>
          </p:nvPr>
        </p:nvSpPr>
        <p:spPr>
          <a:xfrm>
            <a:off x="533400" y="1370009"/>
            <a:ext cx="28956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12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2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23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Nodes Top Right">
  <p:cSld name="16_Title 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24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4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24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124"/>
          <p:cNvSpPr txBox="1">
            <a:spLocks noGrp="1"/>
          </p:cNvSpPr>
          <p:nvPr>
            <p:ph type="body" idx="2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254" name="Google Shape;254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y Nodes Bottom Left">
  <p:cSld name="6_Title Only_2_1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25"/>
          <p:cNvPicPr preferRelativeResize="0"/>
          <p:nvPr/>
        </p:nvPicPr>
        <p:blipFill rotWithShape="1">
          <a:blip r:embed="rId2">
            <a:alphaModFix amt="30000"/>
          </a:blip>
          <a:srcRect t="24294" r="39649"/>
          <a:stretch/>
        </p:blipFill>
        <p:spPr>
          <a:xfrm rot="10800000">
            <a:off x="-1848" y="1182550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5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80010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12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2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25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2">
  <p:cSld name="7_Title Only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6"/>
          <p:cNvSpPr txBox="1">
            <a:spLocks noGrp="1"/>
          </p:cNvSpPr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26"/>
          <p:cNvSpPr txBox="1">
            <a:spLocks noGrp="1"/>
          </p:cNvSpPr>
          <p:nvPr>
            <p:ph type="body" idx="1"/>
          </p:nvPr>
        </p:nvSpPr>
        <p:spPr>
          <a:xfrm>
            <a:off x="4267200" y="1370012"/>
            <a:ext cx="3962392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126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26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6"/>
          <p:cNvSpPr txBox="1">
            <a:spLocks noGrp="1"/>
          </p:cNvSpPr>
          <p:nvPr>
            <p:ph type="body" idx="2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1">
  <p:cSld name="8_Title Only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7"/>
          <p:cNvSpPr txBox="1">
            <a:spLocks noGrp="1"/>
          </p:cNvSpPr>
          <p:nvPr>
            <p:ph type="title"/>
          </p:nvPr>
        </p:nvSpPr>
        <p:spPr>
          <a:xfrm>
            <a:off x="5715000" y="284253"/>
            <a:ext cx="3124196" cy="6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27"/>
          <p:cNvSpPr txBox="1">
            <a:spLocks noGrp="1"/>
          </p:cNvSpPr>
          <p:nvPr>
            <p:ph type="body" idx="1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127"/>
          <p:cNvSpPr/>
          <p:nvPr/>
        </p:nvSpPr>
        <p:spPr>
          <a:xfrm>
            <a:off x="381000" y="0"/>
            <a:ext cx="381000" cy="1027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7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27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7"/>
          <p:cNvSpPr txBox="1">
            <a:spLocks noGrp="1"/>
          </p:cNvSpPr>
          <p:nvPr>
            <p:ph type="body" idx="2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1 1">
  <p:cSld name="8_Title Only_1">
    <p:bg>
      <p:bgPr>
        <a:solidFill>
          <a:schemeClr val="dk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8"/>
          <p:cNvSpPr txBox="1">
            <a:spLocks noGrp="1"/>
          </p:cNvSpPr>
          <p:nvPr>
            <p:ph type="title"/>
          </p:nvPr>
        </p:nvSpPr>
        <p:spPr>
          <a:xfrm>
            <a:off x="5715000" y="284253"/>
            <a:ext cx="3124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128"/>
          <p:cNvSpPr txBox="1">
            <a:spLocks noGrp="1"/>
          </p:cNvSpPr>
          <p:nvPr>
            <p:ph type="body" idx="1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2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8"/>
          <p:cNvSpPr txBox="1">
            <a:spLocks noGrp="1"/>
          </p:cNvSpPr>
          <p:nvPr>
            <p:ph type="body" idx="2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2 1">
  <p:cSld name="7_Title Only_2">
    <p:bg>
      <p:bgPr>
        <a:solidFill>
          <a:schemeClr val="dk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9"/>
          <p:cNvSpPr txBox="1">
            <a:spLocks noGrp="1"/>
          </p:cNvSpPr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129"/>
          <p:cNvSpPr txBox="1">
            <a:spLocks noGrp="1"/>
          </p:cNvSpPr>
          <p:nvPr>
            <p:ph type="body" idx="1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1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29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29"/>
          <p:cNvSpPr txBox="1">
            <a:spLocks noGrp="1"/>
          </p:cNvSpPr>
          <p:nvPr>
            <p:ph type="body" idx="2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15_Title Only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0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1" name="Google Shape;291;p13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15_Title Only_1_1"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White 3">
  <p:cSld name="6_Title Only_2_3_1_3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132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3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32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sz="1100" i="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Twilight 3">
  <p:cSld name="6_Title Only_2_3_4">
    <p:bg>
      <p:bgPr>
        <a:solidFill>
          <a:schemeClr val="accent3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33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3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33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Left | Twilight">
  <p:cSld name="4_Custom Layout_2_1_1">
    <p:bg>
      <p:bgPr>
        <a:solidFill>
          <a:schemeClr val="dk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6" name="Google Shape;306;p134"/>
          <p:cNvSpPr txBox="1">
            <a:spLocks noGrp="1"/>
          </p:cNvSpPr>
          <p:nvPr>
            <p:ph type="body" idx="1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sz="1300" b="0" i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134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8" name="Google Shape;308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34"/>
          <p:cNvPicPr preferRelativeResize="0"/>
          <p:nvPr/>
        </p:nvPicPr>
        <p:blipFill rotWithShape="1">
          <a:blip r:embed="rId3">
            <a:alphaModFix/>
          </a:blip>
          <a:srcRect l="-42" t="23551" r="28736" b="9175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4"/>
          <p:cNvSpPr txBox="1">
            <a:spLocks noGrp="1"/>
          </p:cNvSpPr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34"/>
          <p:cNvSpPr txBox="1">
            <a:spLocks noGrp="1"/>
          </p:cNvSpPr>
          <p:nvPr>
            <p:ph type="body" idx="2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13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Left | White">
  <p:cSld name="4_Custom Layout_2_1">
    <p:bg>
      <p:bgPr>
        <a:solidFill>
          <a:schemeClr val="lt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5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5" name="Google Shape;315;p135"/>
          <p:cNvSpPr txBox="1">
            <a:spLocks noGrp="1"/>
          </p:cNvSpPr>
          <p:nvPr>
            <p:ph type="body" idx="1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sz="1300" b="0" i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135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7" name="Google Shape;317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35"/>
          <p:cNvPicPr preferRelativeResize="0"/>
          <p:nvPr/>
        </p:nvPicPr>
        <p:blipFill rotWithShape="1">
          <a:blip r:embed="rId3">
            <a:alphaModFix/>
          </a:blip>
          <a:srcRect l="49" t="23652" r="28735" b="9228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5"/>
          <p:cNvSpPr txBox="1">
            <a:spLocks noGrp="1"/>
          </p:cNvSpPr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135"/>
          <p:cNvSpPr txBox="1">
            <a:spLocks noGrp="1"/>
          </p:cNvSpPr>
          <p:nvPr>
            <p:ph type="body" idx="2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13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">
  <p:cSld name="5_Custom Layou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2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300"/>
              <a:buFont typeface="Plus Jakarta Sans Medium"/>
              <a:buNone/>
              <a:defRPr sz="2300" b="0" i="0" u="none" strike="noStrike" cap="non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2"/>
          <p:cNvSpPr txBox="1">
            <a:spLocks noGrp="1"/>
          </p:cNvSpPr>
          <p:nvPr>
            <p:ph type="body" idx="1"/>
          </p:nvPr>
        </p:nvSpPr>
        <p:spPr>
          <a:xfrm>
            <a:off x="533400" y="1370013"/>
            <a:ext cx="798195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  <a:defRPr sz="14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 sz="12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2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 b="0" i="0" u="none" strike="noStrike" cap="non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2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"/>
          <p:cNvSpPr txBox="1">
            <a:spLocks noGrp="1"/>
          </p:cNvSpPr>
          <p:nvPr>
            <p:ph type="title"/>
          </p:nvPr>
        </p:nvSpPr>
        <p:spPr>
          <a:xfrm>
            <a:off x="6096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000"/>
              <a:buFont typeface="Plus Jakarta Sans"/>
              <a:buNone/>
            </a:pPr>
            <a:r>
              <a:rPr lang="en-US" sz="2300">
                <a:solidFill>
                  <a:schemeClr val="lt2"/>
                </a:solidFill>
              </a:rPr>
              <a:t>Real-time fraud inference with a transaction foundation model</a:t>
            </a:r>
            <a:endParaRPr sz="2300">
              <a:solidFill>
                <a:schemeClr val="lt2"/>
              </a:solidFill>
            </a:endParaRPr>
          </a:p>
        </p:txBody>
      </p:sp>
      <p:sp>
        <p:nvSpPr>
          <p:cNvPr id="339" name="Google Shape;339;p2"/>
          <p:cNvSpPr txBox="1">
            <a:spLocks noGrp="1"/>
          </p:cNvSpPr>
          <p:nvPr>
            <p:ph type="body" idx="1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"/>
              <a:buNone/>
            </a:pPr>
            <a:r>
              <a:rPr lang="en-US"/>
              <a:t>Thursday, July 9, 2026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</a:pPr>
            <a:endParaRPr/>
          </a:p>
        </p:txBody>
      </p:sp>
      <p:sp>
        <p:nvSpPr>
          <p:cNvPr id="340" name="Google Shape;340;p2"/>
          <p:cNvSpPr txBox="1">
            <a:spLocks noGrp="1"/>
          </p:cNvSpPr>
          <p:nvPr>
            <p:ph type="body" idx="2"/>
          </p:nvPr>
        </p:nvSpPr>
        <p:spPr>
          <a:xfrm>
            <a:off x="6096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Technical blueprint and business value — Cloudera AI + Impala on VAST Data S3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400"/>
              <a:buNone/>
            </a:pPr>
            <a:r>
              <a:rPr lang="en-US"/>
              <a:t>Part 2</a:t>
            </a:r>
            <a:endParaRPr/>
          </a:p>
        </p:txBody>
      </p:sp>
      <p:sp>
        <p:nvSpPr>
          <p:cNvPr id="360" name="Google Shape;360;p5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000"/>
              <a:buFont typeface="Plus Jakarta Sans"/>
              <a:buNone/>
            </a:pPr>
            <a:r>
              <a:rPr lang="en-US"/>
              <a:t>The Value of Cloudera on VAST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400"/>
              <a:buNone/>
            </a:pPr>
            <a:r>
              <a:rPr lang="en-US"/>
              <a:t>Part 1</a:t>
            </a:r>
            <a:endParaRPr/>
          </a:p>
        </p:txBody>
      </p:sp>
      <p:sp>
        <p:nvSpPr>
          <p:cNvPr id="367" name="Google Shape;367;p6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Technical Blueprint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Agenda</a:t>
            </a:r>
            <a:endParaRPr/>
          </a:p>
        </p:txBody>
      </p:sp>
      <p:graphicFrame>
        <p:nvGraphicFramePr>
          <p:cNvPr id="381" name="Google Shape;381;p8"/>
          <p:cNvGraphicFramePr/>
          <p:nvPr/>
        </p:nvGraphicFramePr>
        <p:xfrm>
          <a:off x="609600" y="121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82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accent1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1</a:t>
                      </a:r>
                      <a:endParaRPr sz="2000" u="none" strike="noStrike" cap="none">
                        <a:solidFill>
                          <a:schemeClr val="accent1"/>
                        </a:solidFill>
                        <a:latin typeface="Plus Jakarta Sans SemiBold"/>
                        <a:ea typeface="Plus Jakarta Sans SemiBold"/>
                        <a:cs typeface="Plus Jakarta Sans SemiBold"/>
                        <a:sym typeface="Plus Jakarta Sa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F2A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application: live fraud scoring on Cloudera AI</a:t>
                      </a:r>
                      <a:endParaRPr sz="1300" u="none" strike="noStrike" cap="none">
                        <a:solidFill>
                          <a:srgbClr val="1F2A3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accent1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2</a:t>
                      </a:r>
                      <a:endParaRPr sz="2000" u="none" strike="noStrike" cap="none">
                        <a:solidFill>
                          <a:schemeClr val="accent1"/>
                        </a:solidFill>
                        <a:latin typeface="Plus Jakarta Sans SemiBold"/>
                        <a:ea typeface="Plus Jakarta Sans SemiBold"/>
                        <a:cs typeface="Plus Jakarta Sans SemiBold"/>
                        <a:sym typeface="Plus Jakarta Sa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F2A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Blueprint: the full flow on Cloudera + VAST Data</a:t>
                      </a:r>
                      <a:endParaRPr sz="1300" u="none" strike="noStrike" cap="none">
                        <a:solidFill>
                          <a:srgbClr val="1F2A3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accent1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3</a:t>
                      </a:r>
                      <a:endParaRPr sz="2000" u="none" strike="noStrike" cap="none">
                        <a:solidFill>
                          <a:schemeClr val="accent1"/>
                        </a:solidFill>
                        <a:latin typeface="Plus Jakarta Sans SemiBold"/>
                        <a:ea typeface="Plus Jakarta Sans SemiBold"/>
                        <a:cs typeface="Plus Jakarta Sans SemiBold"/>
                        <a:sym typeface="Plus Jakarta Sa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F2A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platform services behind the application</a:t>
                      </a:r>
                      <a:endParaRPr sz="1300" u="none" strike="noStrike" cap="none">
                        <a:solidFill>
                          <a:srgbClr val="1F2A3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accent1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4</a:t>
                      </a:r>
                      <a:endParaRPr sz="2000" u="none" strike="noStrike" cap="none">
                        <a:solidFill>
                          <a:schemeClr val="accent1"/>
                        </a:solidFill>
                        <a:latin typeface="Plus Jakarta Sans SemiBold"/>
                        <a:ea typeface="Plus Jakarta Sans SemiBold"/>
                        <a:cs typeface="Plus Jakarta Sans SemiBold"/>
                        <a:sym typeface="Plus Jakarta Sa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F2A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Configuring VAST Data behind Impala</a:t>
                      </a:r>
                      <a:endParaRPr sz="1300" u="none" strike="noStrike" cap="none">
                        <a:solidFill>
                          <a:srgbClr val="1F2A3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accent1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5</a:t>
                      </a:r>
                      <a:endParaRPr sz="2000" u="none" strike="noStrike" cap="none">
                        <a:solidFill>
                          <a:schemeClr val="accent1"/>
                        </a:solidFill>
                        <a:latin typeface="Plus Jakarta Sans SemiBold"/>
                        <a:ea typeface="Plus Jakarta Sans SemiBold"/>
                        <a:cs typeface="Plus Jakarta Sans SemiBold"/>
                        <a:sym typeface="Plus Jakarta Sa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F2A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Why Cloudera on VAST Data</a:t>
                      </a:r>
                      <a:endParaRPr sz="1300" u="none" strike="noStrike" cap="none">
                        <a:solidFill>
                          <a:srgbClr val="1F2A3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accent1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6</a:t>
                      </a:r>
                      <a:endParaRPr sz="2000" u="none" strike="noStrike" cap="none">
                        <a:solidFill>
                          <a:schemeClr val="accent1"/>
                        </a:solidFill>
                        <a:latin typeface="Plus Jakarta Sans SemiBold"/>
                        <a:ea typeface="Plus Jakarta Sans SemiBold"/>
                        <a:cs typeface="Plus Jakarta Sans SemiBold"/>
                        <a:sym typeface="Plus Jakarta Sans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F2A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value: proof points and what it unlocks</a:t>
                      </a:r>
                      <a:endParaRPr sz="1300" u="none" strike="noStrike" cap="none">
                        <a:solidFill>
                          <a:srgbClr val="1F2A3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2" name="Google Shape;382;p8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accent2"/>
                </a:solidFill>
              </a:rPr>
              <a:t>A working fraud-inference application, and why the platform underneath it matters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What the Application Is</a:t>
            </a:r>
            <a:endParaRPr/>
          </a:p>
        </p:txBody>
      </p:sp>
      <p:sp>
        <p:nvSpPr>
          <p:cNvPr id="435" name="Google Shape;435;p14"/>
          <p:cNvSpPr txBox="1">
            <a:spLocks noGrp="1"/>
          </p:cNvSpPr>
          <p:nvPr>
            <p:ph type="body" idx="429496729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 fraud-inference cockpit — an Applied ML Prototype running on Cloudera AI</a:t>
            </a:r>
            <a:endParaRPr/>
          </a:p>
        </p:txBody>
      </p:sp>
      <p:sp>
        <p:nvSpPr>
          <p:cNvPr id="436" name="Google Shape;436;p14"/>
          <p:cNvSpPr txBox="1">
            <a:spLocks noGrp="1"/>
          </p:cNvSpPr>
          <p:nvPr>
            <p:ph type="body" idx="2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Score any card transaction in real time, with foundation-model context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One CML application: React front end, FastAPI backend and GPU inference in a single container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NVIDIA Transaction Foundation Model produces a 512-d embedding per transaction, feeding three XGBoost heads: raw features, embeddings, combined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Data prep and model export run as background jobs over the 24M-row TabFormer card-transaction dataset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Every byte lives once — Parquet on VAST S3, registered as Impala external tables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Everything runs on a single NVIDIA L4 24 GB GPU with RAPIDS — cuDF, cuML, XGBoost on one RMM memory pool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Configuring VAST Data Behind Impala</a:t>
            </a:r>
            <a:endParaRPr/>
          </a:p>
        </p:txBody>
      </p:sp>
      <p:sp>
        <p:nvSpPr>
          <p:cNvPr id="450" name="Google Shape;450;p16"/>
          <p:cNvSpPr txBox="1">
            <a:spLocks noGrp="1"/>
          </p:cNvSpPr>
          <p:nvPr>
            <p:ph type="body" idx="1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Cloudera Data Warehouse side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Set the same four fs.s3a properties on the Impala Virtual Warehouse (coordinator, executor, catalogd) and on the Database Catalog metastore: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fs.s3a.bucket.mschuler-cloudera.endpoint = https://s3.previewhub.dev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fs.s3a.bucket.….path.style.access = true — required by VAST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fs.s3a.bucket.….access.key / .secret.key — config properties, never SQL SET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Then CREATE DATABASE … LOCATION 's3a://mschuler-cloudera/…' — the URI names bucket and path only, never the endpoint hostname</a:t>
            </a:r>
            <a:endParaRPr/>
          </a:p>
        </p:txBody>
      </p:sp>
      <p:sp>
        <p:nvSpPr>
          <p:cNvPr id="451" name="Google Shape;451;p16"/>
          <p:cNvSpPr txBox="1">
            <a:spLocks noGrp="1"/>
          </p:cNvSpPr>
          <p:nvPr>
            <p:ph type="body" idx="1"/>
          </p:nvPr>
        </p:nvSpPr>
        <p:spPr>
          <a:xfrm>
            <a:off x="4722600" y="1370000"/>
            <a:ext cx="3842400" cy="31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VAST Data side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One namespace, served to every engine on the platform: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S3-enabled view with an identity policy scoped to the bucket (mschuler-cloudera)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DNS endpoint s3.previewhub.dev on a VIP pool, with TLS the warehouse JVM trusts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Path-style addressing and standard SigV4 — the same S3 semantics NiFi, Impala and Cloudera AI all speak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Validate end to end: CREATE EXTERNAL TABLE probe → INSERT → SELECT, then list the bucket and watch the Parquet land</a:t>
            </a:r>
            <a:endParaRPr/>
          </a:p>
        </p:txBody>
      </p:sp>
      <p:sp>
        <p:nvSpPr>
          <p:cNvPr id="452" name="Google Shape;452;p16"/>
          <p:cNvSpPr txBox="1">
            <a:spLocks noGrp="1"/>
          </p:cNvSpPr>
          <p:nvPr>
            <p:ph type="body" idx="429496729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Four bucket-scoped properties in Cloudera Data Warehouse — no base-cluster changes, nothing else affected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Why Cloudera on VAST Data</a:t>
            </a:r>
            <a:endParaRPr/>
          </a:p>
        </p:txBody>
      </p:sp>
      <p:sp>
        <p:nvSpPr>
          <p:cNvPr id="536" name="Google Shape;536;p26"/>
          <p:cNvSpPr txBox="1">
            <a:spLocks noGrp="1"/>
          </p:cNvSpPr>
          <p:nvPr>
            <p:ph type="body" idx="1"/>
          </p:nvPr>
        </p:nvSpPr>
        <p:spPr>
          <a:xfrm>
            <a:off x="533400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One open lakehouse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Parquet on S3-compatible storage — no proprietary formats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Impala queries the very objects your applications write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External tables let storage and compute scale independently</a:t>
            </a:r>
            <a:endParaRPr/>
          </a:p>
        </p:txBody>
      </p:sp>
      <p:sp>
        <p:nvSpPr>
          <p:cNvPr id="537" name="Google Shape;537;p26"/>
          <p:cNvSpPr txBox="1">
            <a:spLocks noGrp="1"/>
          </p:cNvSpPr>
          <p:nvPr>
            <p:ph type="body" idx="4294967295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Three pillars this application proves in practice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"/>
              <a:buNone/>
            </a:pPr>
            <a:endParaRPr/>
          </a:p>
        </p:txBody>
      </p:sp>
      <p:sp>
        <p:nvSpPr>
          <p:cNvPr id="538" name="Google Shape;538;p26"/>
          <p:cNvSpPr txBox="1">
            <a:spLocks noGrp="1"/>
          </p:cNvSpPr>
          <p:nvPr>
            <p:ph type="body" idx="2"/>
          </p:nvPr>
        </p:nvSpPr>
        <p:spPr>
          <a:xfrm>
            <a:off x="3165987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AI where the data lives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GPU training and inference inside Cloudera AI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Data never leaves governance to reach a GPU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Foundation-model scoring on a single, modest L4</a:t>
            </a:r>
            <a:endParaRPr/>
          </a:p>
        </p:txBody>
      </p:sp>
      <p:sp>
        <p:nvSpPr>
          <p:cNvPr id="539" name="Google Shape;539;p26"/>
          <p:cNvSpPr txBox="1">
            <a:spLocks noGrp="1"/>
          </p:cNvSpPr>
          <p:nvPr>
            <p:ph type="body" idx="3"/>
          </p:nvPr>
        </p:nvSpPr>
        <p:spPr>
          <a:xfrm>
            <a:off x="5798575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Exabyte-scale economics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VAST all-flash keeps hot and historical data on one tier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Train on full history, not a sampled window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S3 semantics your teams already operate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6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Blueprint: The Full Flow on Cloudera + VAST Data</a:t>
            </a:r>
            <a:endParaRPr/>
          </a:p>
        </p:txBody>
      </p:sp>
      <p:sp>
        <p:nvSpPr>
          <p:cNvPr id="633" name="Google Shape;633;p36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accent2"/>
                </a:solidFill>
              </a:rPr>
              <a:t>DataFlow ingests, Impala queries, Cloudera AI scores — one copy of the data, as Parquet on VAST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endParaRPr/>
          </a:p>
        </p:txBody>
      </p:sp>
      <p:sp>
        <p:nvSpPr>
          <p:cNvPr id="634" name="Rectangle 633"/>
          <p:cNvSpPr/>
          <p:nvPr/>
        </p:nvSpPr>
        <p:spPr>
          <a:xfrm>
            <a:off x="7571231" y="0"/>
            <a:ext cx="157276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566928" y="1188720"/>
            <a:ext cx="7863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i="0">
                <a:solidFill>
                  <a:srgbClr val="100045"/>
                </a:solidFill>
                <a:latin typeface="Arial"/>
              </a:rPr>
              <a:t>SOURCES &amp; CONSUMERS</a:t>
            </a:r>
          </a:p>
        </p:txBody>
      </p:sp>
      <p:sp>
        <p:nvSpPr>
          <p:cNvPr id="636" name="Rounded Rectangle 635"/>
          <p:cNvSpPr/>
          <p:nvPr/>
        </p:nvSpPr>
        <p:spPr>
          <a:xfrm>
            <a:off x="548640" y="1426464"/>
            <a:ext cx="1874519" cy="6858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00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850">
                <a:solidFill>
                  <a:srgbClr val="100045"/>
                </a:solidFill>
                <a:latin typeface="Arial"/>
              </a:rPr>
              <a:t>Transaction sources</a:t>
            </a:r>
          </a:p>
          <a:p>
            <a:pPr algn="ctr"/>
            <a:r>
              <a:rPr sz="650">
                <a:solidFill>
                  <a:srgbClr val="100045"/>
                </a:solidFill>
                <a:latin typeface="Arial"/>
              </a:rPr>
              <a:t>payment switch · streams · files</a:t>
            </a:r>
          </a:p>
        </p:txBody>
      </p:sp>
      <p:sp>
        <p:nvSpPr>
          <p:cNvPr id="637" name="Rounded Rectangle 636"/>
          <p:cNvSpPr/>
          <p:nvPr/>
        </p:nvSpPr>
        <p:spPr>
          <a:xfrm>
            <a:off x="4663440" y="1426464"/>
            <a:ext cx="1874519" cy="685800"/>
          </a:xfrm>
          <a:prstGeom prst="roundRect">
            <a:avLst>
              <a:gd name="adj" fmla="val 10000"/>
            </a:avLst>
          </a:prstGeom>
          <a:solidFill>
            <a:srgbClr val="100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850">
                <a:solidFill>
                  <a:srgbClr val="FFFFFF"/>
                </a:solidFill>
                <a:latin typeface="Arial"/>
              </a:rPr>
              <a:t>BI &amp; ad-hoc SQL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Arial"/>
              </a:rPr>
              <a:t>analysts, dashboards, Hue</a:t>
            </a:r>
          </a:p>
        </p:txBody>
      </p:sp>
      <p:sp>
        <p:nvSpPr>
          <p:cNvPr id="638" name="Rounded Rectangle 637"/>
          <p:cNvSpPr/>
          <p:nvPr/>
        </p:nvSpPr>
        <p:spPr>
          <a:xfrm>
            <a:off x="6720840" y="1426464"/>
            <a:ext cx="1874519" cy="685800"/>
          </a:xfrm>
          <a:prstGeom prst="roundRect">
            <a:avLst>
              <a:gd name="adj" fmla="val 10000"/>
            </a:avLst>
          </a:prstGeom>
          <a:solidFill>
            <a:srgbClr val="100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850">
                <a:solidFill>
                  <a:srgbClr val="FFFFFF"/>
                </a:solidFill>
                <a:latin typeface="Arial"/>
              </a:rPr>
              <a:t>Fraud cockpit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Arial"/>
              </a:rPr>
              <a:t>this application — live scoring UI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566928" y="2231136"/>
            <a:ext cx="7863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i="0">
                <a:solidFill>
                  <a:srgbClr val="100045"/>
                </a:solidFill>
                <a:latin typeface="Arial"/>
              </a:rPr>
              <a:t>CLOUDERA DATA PLATFORM</a:t>
            </a:r>
          </a:p>
        </p:txBody>
      </p:sp>
      <p:sp>
        <p:nvSpPr>
          <p:cNvPr id="640" name="Rounded Rectangle 639"/>
          <p:cNvSpPr/>
          <p:nvPr/>
        </p:nvSpPr>
        <p:spPr>
          <a:xfrm>
            <a:off x="548640" y="2468880"/>
            <a:ext cx="1874519" cy="868680"/>
          </a:xfrm>
          <a:prstGeom prst="roundRect">
            <a:avLst>
              <a:gd name="adj" fmla="val 10000"/>
            </a:avLst>
          </a:prstGeom>
          <a:solidFill>
            <a:srgbClr val="555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Cloudera DataFlow</a:t>
            </a:r>
          </a:p>
          <a:p>
            <a:pPr algn="ctr"/>
            <a:r>
              <a:rPr sz="680">
                <a:solidFill>
                  <a:srgbClr val="FFFFFF"/>
                </a:solidFill>
                <a:latin typeface="Arial"/>
              </a:rPr>
              <a:t>NiFi flows ingest &amp; enrich events, land Parquet</a:t>
            </a:r>
          </a:p>
        </p:txBody>
      </p:sp>
      <p:sp>
        <p:nvSpPr>
          <p:cNvPr id="641" name="Rounded Rectangle 640"/>
          <p:cNvSpPr/>
          <p:nvPr/>
        </p:nvSpPr>
        <p:spPr>
          <a:xfrm>
            <a:off x="2606040" y="2468880"/>
            <a:ext cx="1874519" cy="868680"/>
          </a:xfrm>
          <a:prstGeom prst="roundRect">
            <a:avLst>
              <a:gd name="adj" fmla="val 10000"/>
            </a:avLst>
          </a:prstGeom>
          <a:solidFill>
            <a:srgbClr val="555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Cloudera Data Engineering</a:t>
            </a:r>
          </a:p>
          <a:p>
            <a:pPr algn="ctr"/>
            <a:r>
              <a:rPr sz="680">
                <a:solidFill>
                  <a:srgbClr val="FFFFFF"/>
                </a:solidFill>
                <a:latin typeface="Arial"/>
              </a:rPr>
              <a:t>scheduled prep: temporal splits, refresh</a:t>
            </a:r>
          </a:p>
        </p:txBody>
      </p:sp>
      <p:sp>
        <p:nvSpPr>
          <p:cNvPr id="642" name="Rounded Rectangle 641"/>
          <p:cNvSpPr/>
          <p:nvPr/>
        </p:nvSpPr>
        <p:spPr>
          <a:xfrm>
            <a:off x="4663440" y="2468880"/>
            <a:ext cx="1874519" cy="868680"/>
          </a:xfrm>
          <a:prstGeom prst="roundRect">
            <a:avLst>
              <a:gd name="adj" fmla="val 10000"/>
            </a:avLst>
          </a:prstGeom>
          <a:solidFill>
            <a:srgbClr val="11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Data Warehouse — Impala</a:t>
            </a:r>
          </a:p>
          <a:p>
            <a:pPr algn="ctr"/>
            <a:r>
              <a:rPr sz="680">
                <a:solidFill>
                  <a:srgbClr val="FFFFFF"/>
                </a:solidFill>
                <a:latin typeface="Arial"/>
              </a:rPr>
              <a:t>EXTERNAL TABLES on s3a:// · SQL in place</a:t>
            </a:r>
          </a:p>
        </p:txBody>
      </p:sp>
      <p:sp>
        <p:nvSpPr>
          <p:cNvPr id="643" name="Rounded Rectangle 642"/>
          <p:cNvSpPr/>
          <p:nvPr/>
        </p:nvSpPr>
        <p:spPr>
          <a:xfrm>
            <a:off x="6720840" y="2468880"/>
            <a:ext cx="1874519" cy="868680"/>
          </a:xfrm>
          <a:prstGeom prst="roundRect">
            <a:avLst>
              <a:gd name="adj" fmla="val 10000"/>
            </a:avLst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Cloudera AI (GPU)</a:t>
            </a:r>
          </a:p>
          <a:p>
            <a:pPr algn="ctr"/>
            <a:r>
              <a:rPr sz="680">
                <a:solidFill>
                  <a:srgbClr val="FFFFFF"/>
                </a:solidFill>
                <a:latin typeface="Arial"/>
              </a:rPr>
              <a:t>TFM embeddings · XGBoost · live inference</a:t>
            </a:r>
          </a:p>
        </p:txBody>
      </p:sp>
      <p:sp>
        <p:nvSpPr>
          <p:cNvPr id="644" name="Rounded Rectangle 643"/>
          <p:cNvSpPr/>
          <p:nvPr/>
        </p:nvSpPr>
        <p:spPr>
          <a:xfrm>
            <a:off x="548640" y="3584448"/>
            <a:ext cx="8046720" cy="365760"/>
          </a:xfrm>
          <a:prstGeom prst="roundRect">
            <a:avLst>
              <a:gd name="adj" fmla="val 50000"/>
            </a:avLst>
          </a:prstGeom>
          <a:solidFill>
            <a:srgbClr val="E9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800">
                <a:solidFill>
                  <a:srgbClr val="100045"/>
                </a:solidFill>
                <a:latin typeface="Arial"/>
              </a:rPr>
              <a:t>SDX — one catalog, one security model, full lineage across every service</a:t>
            </a:r>
          </a:p>
        </p:txBody>
      </p:sp>
      <p:sp>
        <p:nvSpPr>
          <p:cNvPr id="645" name="Rounded Rectangle 644"/>
          <p:cNvSpPr/>
          <p:nvPr/>
        </p:nvSpPr>
        <p:spPr>
          <a:xfrm>
            <a:off x="548640" y="4114800"/>
            <a:ext cx="8046720" cy="7315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55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b="1" sz="1000">
                <a:solidFill>
                  <a:srgbClr val="100045"/>
                </a:solidFill>
                <a:latin typeface="Arial"/>
              </a:rPr>
              <a:t>VAST Data — S3 storage layer</a:t>
            </a:r>
          </a:p>
          <a:p>
            <a:pPr algn="ctr"/>
            <a:r>
              <a:rPr sz="750">
                <a:solidFill>
                  <a:srgbClr val="100045"/>
                </a:solidFill>
                <a:latin typeface="Arial"/>
              </a:rPr>
              <a:t>s3://mschuler-cloudera @ s3.previewhub.dev · Parquet, open formats · one copy for every engine</a:t>
            </a:r>
          </a:p>
        </p:txBody>
      </p:sp>
      <p:cxnSp>
        <p:nvCxnSpPr>
          <p:cNvPr id="646" name="Connector 645"/>
          <p:cNvCxnSpPr/>
          <p:nvPr/>
        </p:nvCxnSpPr>
        <p:spPr>
          <a:xfrm>
            <a:off x="2103120" y="2112264"/>
            <a:ext cx="0" cy="356616"/>
          </a:xfrm>
          <a:prstGeom prst="line">
            <a:avLst/>
          </a:prstGeom>
          <a:ln w="19050">
            <a:solidFill>
              <a:srgbClr val="1000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5596128" y="2112264"/>
            <a:ext cx="0" cy="356616"/>
          </a:xfrm>
          <a:prstGeom prst="line">
            <a:avLst/>
          </a:prstGeom>
          <a:ln w="19050">
            <a:solidFill>
              <a:srgbClr val="1000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7653527" y="2112264"/>
            <a:ext cx="0" cy="356616"/>
          </a:xfrm>
          <a:prstGeom prst="line">
            <a:avLst/>
          </a:prstGeom>
          <a:ln w="19050">
            <a:solidFill>
              <a:srgbClr val="1000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481328" y="3337560"/>
            <a:ext cx="0" cy="777240"/>
          </a:xfrm>
          <a:prstGeom prst="line">
            <a:avLst/>
          </a:prstGeom>
          <a:ln w="19050">
            <a:solidFill>
              <a:srgbClr val="1000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538728" y="3337560"/>
            <a:ext cx="0" cy="777240"/>
          </a:xfrm>
          <a:prstGeom prst="line">
            <a:avLst/>
          </a:prstGeom>
          <a:ln w="19050">
            <a:solidFill>
              <a:srgbClr val="100045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596128" y="3337560"/>
            <a:ext cx="0" cy="777240"/>
          </a:xfrm>
          <a:prstGeom prst="line">
            <a:avLst/>
          </a:prstGeom>
          <a:ln w="25400">
            <a:solidFill>
              <a:srgbClr val="FF550C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7653527" y="3337560"/>
            <a:ext cx="0" cy="777240"/>
          </a:xfrm>
          <a:prstGeom prst="line">
            <a:avLst/>
          </a:prstGeom>
          <a:ln w="19050">
            <a:solidFill>
              <a:srgbClr val="100045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7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The Platform Services Behind the Application</a:t>
            </a:r>
            <a:endParaRPr/>
          </a:p>
        </p:txBody>
      </p:sp>
      <p:sp>
        <p:nvSpPr>
          <p:cNvPr id="640" name="Google Shape;640;p37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Cloudera DataFlow — continuous, schema-aware ingest from payment switches, files and APIs, landing Parquet on VAST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Cloudera Data Engineering — scheduled jobs that build and refresh the temporal training splits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Cloudera Data Warehouse (Impala) — SQL on those same objects for the application, analysts and BI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Cloudera AI — GPU notebooks and jobs for embeddings and training, plus the deployed fraud cockpit itself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SDX — one catalog, one security model and full lineage across every service that touches the VAST bucket</a:t>
            </a:r>
            <a:endParaRPr/>
          </a:p>
        </p:txBody>
      </p:sp>
      <p:sp>
        <p:nvSpPr>
          <p:cNvPr id="641" name="Google Shape;641;p37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Each Cloudera service plays one role — VAST holds the one copy of the data they all share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8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What This Unlocks</a:t>
            </a:r>
            <a:endParaRPr/>
          </a:p>
        </p:txBody>
      </p:sp>
      <p:sp>
        <p:nvSpPr>
          <p:cNvPr id="647" name="Google Shape;647;p38"/>
          <p:cNvSpPr txBox="1">
            <a:spLocks noGrp="1"/>
          </p:cNvSpPr>
          <p:nvPr>
            <p:ph type="body" idx="1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Real-time decisions with context</a:t>
            </a:r>
            <a:endParaRPr/>
          </a:p>
          <a:p>
            <a:pPr marL="0" lvl="1" indent="0" algn="l" rtl="0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Foundation-model embeddings see behavior that rules and point features miss — and score it in milliseconds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Faster iteration: prepare → embed → retrain is a repeatable platform job, not a data-science science project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One governed copy of the data serves warehouse SQL, GPU training and BI simultaneously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The same stack generalizes: AML, credit risk, payments abuse, churn</a:t>
            </a:r>
            <a:endParaRPr/>
          </a:p>
          <a:p>
            <a:pPr marL="137160" lvl="2" indent="-1371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Commodity GPU footprint — this entire pipeline fits one NVIDIA L4</a:t>
            </a:r>
            <a:endParaRPr/>
          </a:p>
        </p:txBody>
      </p:sp>
      <p:sp>
        <p:nvSpPr>
          <p:cNvPr id="649" name="Google Shape;649;p38"/>
          <p:cNvSpPr txBox="1">
            <a:spLocks noGrp="1"/>
          </p:cNvSpPr>
          <p:nvPr>
            <p:ph type="body" idx="2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accent2"/>
                </a:solidFill>
              </a:rPr>
              <a:t>From a demo pattern to production fraud programs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5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Proof Points from the Running Application</a:t>
            </a:r>
            <a:endParaRPr/>
          </a:p>
        </p:txBody>
      </p:sp>
      <p:graphicFrame>
        <p:nvGraphicFramePr>
          <p:cNvPr id="712" name="Google Shape;712;p45"/>
          <p:cNvGraphicFramePr/>
          <p:nvPr/>
        </p:nvGraphicFramePr>
        <p:xfrm>
          <a:off x="642100" y="14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223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900"/>
                        <a:buFont typeface="Arial"/>
                        <a:buNone/>
                      </a:pPr>
                      <a:r>
                        <a:rPr lang="en-US" sz="3900" b="1" u="none" strike="noStrike" cap="none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24M</a:t>
                      </a:r>
                      <a:endParaRPr sz="1400" u="none" strike="noStrike" cap="non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Transactions, one platform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TabFormer card transactions prepared, split and governed entirely inside Cloudera — no copies leaving the lakehouse.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3" name="Google Shape;713;p45"/>
          <p:cNvGraphicFramePr/>
          <p:nvPr/>
        </p:nvGraphicFramePr>
        <p:xfrm>
          <a:off x="5846725" y="14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223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900"/>
                        <a:buFont typeface="Arial"/>
                        <a:buNone/>
                      </a:pPr>
                      <a:r>
                        <a:rPr lang="en-US" sz="3900" b="1" u="none" strike="noStrike" cap="none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</a:t>
                      </a:r>
                      <a:endParaRPr sz="1400" u="none" strike="noStrike" cap="non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Models, one verdict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Raw-feature, embedding and combined XGBoost heads run side by side, so the lift from AI is measured, not asserted.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accen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4" name="Google Shape;714;p45"/>
          <p:cNvGraphicFramePr/>
          <p:nvPr/>
        </p:nvGraphicFramePr>
        <p:xfrm>
          <a:off x="3244413" y="147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{FD79CD32-E933-4B66-8D35-4C9BEE16DE1A}</a:tableStyleId>
              </a:tblPr>
              <a:tblGrid>
                <a:gridCol w="223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900"/>
                        <a:buFont typeface="Arial"/>
                        <a:buNone/>
                      </a:pPr>
                      <a:r>
                        <a:rPr lang="en-US" sz="3900" b="1" u="none" strike="noStrike" cap="none">
                          <a:solidFill>
                            <a:schemeClr val="accent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512-d</a:t>
                      </a:r>
                      <a:endParaRPr sz="1400" u="none" strike="noStrike" cap="non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Context per transaction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Every transaction is scored with a 512-dimension foundation-model embedding — behavioral context rules never see.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accen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5" name="Google Shape;715;p45"/>
          <p:cNvSpPr txBox="1">
            <a:spLocks noGrp="1"/>
          </p:cNvSpPr>
          <p:nvPr>
            <p:ph type="body" idx="2"/>
          </p:nvPr>
        </p:nvSpPr>
        <p:spPr>
          <a:xfrm>
            <a:off x="533400" y="734275"/>
            <a:ext cx="3231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Measured on Cloudera AI over VAST Data S3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3"/>
          <p:cNvSpPr txBox="1">
            <a:spLocks noGrp="1"/>
          </p:cNvSpPr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End-to-End Data Flow</a:t>
            </a:r>
            <a:endParaRPr/>
          </a:p>
        </p:txBody>
      </p:sp>
      <p:sp>
        <p:nvSpPr>
          <p:cNvPr id="800" name="Google Shape;800;p53"/>
          <p:cNvSpPr txBox="1"/>
          <p:nvPr/>
        </p:nvSpPr>
        <p:spPr>
          <a:xfrm>
            <a:off x="697600" y="2445034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50C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FF550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3"/>
          <p:cNvSpPr txBox="1"/>
          <p:nvPr/>
        </p:nvSpPr>
        <p:spPr>
          <a:xfrm>
            <a:off x="3678700" y="2445034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3"/>
          <p:cNvSpPr txBox="1"/>
          <p:nvPr/>
        </p:nvSpPr>
        <p:spPr>
          <a:xfrm>
            <a:off x="6297100" y="2445034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3"/>
          <p:cNvSpPr txBox="1"/>
          <p:nvPr/>
        </p:nvSpPr>
        <p:spPr>
          <a:xfrm>
            <a:off x="679017" y="2833975"/>
            <a:ext cx="2027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2"/>
              </a:buClr>
              <a:buSzPts val="1200"/>
              <a:buFont typeface="Plus Jakarta Sans"/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29090"/>
              </a:lnSpc>
              <a:spcBef>
                <a:spcPts val="7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</a:pPr>
            <a:r>
              <a:rPr lang="en-US" sz="1100" b="0" i="0" u="none" strike="noStrike" cap="none">
                <a:solidFill>
                  <a:srgbClr val="6E767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DataFlow streams card transactions from source systems and lands them as Parquet on VAST.</a:t>
            </a:r>
            <a:endParaRPr sz="13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04" name="Google Shape;804;p53"/>
          <p:cNvSpPr txBox="1"/>
          <p:nvPr/>
        </p:nvSpPr>
        <p:spPr>
          <a:xfrm>
            <a:off x="3678705" y="2837799"/>
            <a:ext cx="2027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2"/>
              </a:buClr>
              <a:buSzPts val="1200"/>
              <a:buFont typeface="Plus Jakarta Sans"/>
              <a:buNone/>
            </a:pPr>
            <a:r>
              <a:rPr lang="en-US" sz="1200" b="0" i="0" u="none" strike="noStrike" cap="none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Prepare &amp; query</a:t>
            </a:r>
            <a:endParaRPr sz="1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29090"/>
              </a:lnSpc>
              <a:spcBef>
                <a:spcPts val="7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</a:pPr>
            <a:r>
              <a:rPr lang="en-US" sz="1100" b="0" i="0" u="none" strike="noStrike" cap="none">
                <a:solidFill>
                  <a:srgbClr val="6E767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Engineering builds the temporal training splits; Impala external tables make them queryable in place.</a:t>
            </a:r>
            <a:endParaRPr sz="13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05" name="Google Shape;805;p53"/>
          <p:cNvSpPr txBox="1"/>
          <p:nvPr/>
        </p:nvSpPr>
        <p:spPr>
          <a:xfrm>
            <a:off x="6308783" y="2833975"/>
            <a:ext cx="2027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2"/>
              </a:buClr>
              <a:buSzPts val="1200"/>
              <a:buFont typeface="Plus Jakarta Sans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 &amp; serve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29090"/>
              </a:lnSpc>
              <a:spcBef>
                <a:spcPts val="7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</a:pPr>
            <a:r>
              <a:rPr lang="en-US" sz="1100" b="0" i="0" u="none" strike="noStrike" cap="none">
                <a:solidFill>
                  <a:srgbClr val="6E767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AI turns transactions into TFM embeddings, trains the XGBoost heads and serves live fraud scores.</a:t>
            </a:r>
            <a:endParaRPr sz="13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06" name="Google Shape;806;p53"/>
          <p:cNvSpPr/>
          <p:nvPr/>
        </p:nvSpPr>
        <p:spPr>
          <a:xfrm>
            <a:off x="697600" y="1412600"/>
            <a:ext cx="851100" cy="851100"/>
          </a:xfrm>
          <a:prstGeom prst="ellipse">
            <a:avLst/>
          </a:prstGeom>
          <a:solidFill>
            <a:srgbClr val="FF55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3"/>
          <p:cNvSpPr/>
          <p:nvPr/>
        </p:nvSpPr>
        <p:spPr>
          <a:xfrm>
            <a:off x="3730166" y="1412600"/>
            <a:ext cx="851100" cy="851100"/>
          </a:xfrm>
          <a:prstGeom prst="ellipse">
            <a:avLst/>
          </a:prstGeom>
          <a:solidFill>
            <a:srgbClr val="555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3"/>
          <p:cNvSpPr/>
          <p:nvPr/>
        </p:nvSpPr>
        <p:spPr>
          <a:xfrm>
            <a:off x="6352312" y="1412600"/>
            <a:ext cx="851100" cy="851100"/>
          </a:xfrm>
          <a:prstGeom prst="ellipse">
            <a:avLst/>
          </a:prstGeom>
          <a:solidFill>
            <a:srgbClr val="12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9" name="Google Shape;80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4962" y="1662152"/>
            <a:ext cx="1032480" cy="1032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4658" y="1441250"/>
            <a:ext cx="720573" cy="72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8107" y="1477778"/>
            <a:ext cx="720573" cy="72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5961" y="1441250"/>
            <a:ext cx="720573" cy="720551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53"/>
          <p:cNvSpPr txBox="1">
            <a:spLocks noGrp="1"/>
          </p:cNvSpPr>
          <p:nvPr>
            <p:ph type="body" idx="1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accent2"/>
                </a:solidFill>
              </a:rPr>
              <a:t>From the payment switch to the fraud desk — one copy of the data all the way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91"/>
          <p:cNvSpPr txBox="1">
            <a:spLocks noGrp="1"/>
          </p:cNvSpPr>
          <p:nvPr>
            <p:ph type="title"/>
          </p:nvPr>
        </p:nvSpPr>
        <p:spPr>
          <a:xfrm>
            <a:off x="812500" y="2215225"/>
            <a:ext cx="7518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4100" b="1"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 sz="4100" b="1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6863</Words>
  <Application>Microsoft Office PowerPoint</Application>
  <PresentationFormat>On-screen Show (16:9)</PresentationFormat>
  <Paragraphs>1652</Paragraphs>
  <Slides>91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9" baseType="lpstr">
      <vt:lpstr>Ole</vt:lpstr>
      <vt:lpstr>Plus Jakarta Sans Medium</vt:lpstr>
      <vt:lpstr>Times</vt:lpstr>
      <vt:lpstr>Arial</vt:lpstr>
      <vt:lpstr>Plus Jakarta Sans SemiBold</vt:lpstr>
      <vt:lpstr>Plus Jakarta Sans</vt:lpstr>
      <vt:lpstr>Calibri</vt:lpstr>
      <vt:lpstr>Cloudera Brand Theme</vt:lpstr>
      <vt:lpstr>PowerPoint Presentation</vt:lpstr>
      <vt:lpstr>This is a double title headline  for a presentation cover</vt:lpstr>
      <vt:lpstr>This is a double title headline  for a presentation cover</vt:lpstr>
      <vt:lpstr>Transition Page</vt:lpstr>
      <vt:lpstr>Transition Page</vt:lpstr>
      <vt:lpstr>Transition Page </vt:lpstr>
      <vt:lpstr>This is a double title headline  for a transition slide</vt:lpstr>
      <vt:lpstr>Agenda</vt:lpstr>
      <vt:lpstr>Agenda</vt:lpstr>
      <vt:lpstr>Agenda</vt:lpstr>
      <vt:lpstr>Agenda</vt:lpstr>
      <vt:lpstr>Table of Contents</vt:lpstr>
      <vt:lpstr>Table of Contents</vt:lpstr>
      <vt:lpstr>Headline  One Column Text</vt:lpstr>
      <vt:lpstr>Headline  One Column Text </vt:lpstr>
      <vt:lpstr>Headline Two Column Text</vt:lpstr>
      <vt:lpstr>Headline Two Column Text </vt:lpstr>
      <vt:lpstr>Headline  One Column Text With Image on Right</vt:lpstr>
      <vt:lpstr>Headline  One Column Text With Image on Right</vt:lpstr>
      <vt:lpstr>Headline  One Column Text With Image on Left</vt:lpstr>
      <vt:lpstr>Headline  One Column Text With Image on Left</vt:lpstr>
      <vt:lpstr>Headline Left Side Image Right</vt:lpstr>
      <vt:lpstr>Headline Left Side Image Right </vt:lpstr>
      <vt:lpstr>Headline Right Side Image Left</vt:lpstr>
      <vt:lpstr>Headline Right Side Image Left </vt:lpstr>
      <vt:lpstr>Headline  Three Column Text</vt:lpstr>
      <vt:lpstr>Headline  Three Column Text </vt:lpstr>
      <vt:lpstr>Headline  Three Column Table</vt:lpstr>
      <vt:lpstr>Headline  Three Column Table </vt:lpstr>
      <vt:lpstr>Headline  Orange Background</vt:lpstr>
      <vt:lpstr>Headline Quote Image Right</vt:lpstr>
      <vt:lpstr>Headline Quote Image Right</vt:lpstr>
      <vt:lpstr>PowerPoint Presentation</vt:lpstr>
      <vt:lpstr>PowerPoint Presentation</vt:lpstr>
      <vt:lpstr>PowerPoint Presentation</vt:lpstr>
      <vt:lpstr>Headline  White Background</vt:lpstr>
      <vt:lpstr>Headline  Twilight Background</vt:lpstr>
      <vt:lpstr>Headline Orange Pattern on White</vt:lpstr>
      <vt:lpstr>Headline Blue Nova Pattern on White</vt:lpstr>
      <vt:lpstr>Headline Grey Pattern on White</vt:lpstr>
      <vt:lpstr>Headline Grey Pattern on White</vt:lpstr>
      <vt:lpstr>Headline Stats on the Right</vt:lpstr>
      <vt:lpstr>Headline Stats on the Right</vt:lpstr>
      <vt:lpstr>Three Column Stat on White Background</vt:lpstr>
      <vt:lpstr>Three Column Stat on Twilight Background</vt:lpstr>
      <vt:lpstr>Three Column Stat on Orange Background</vt:lpstr>
      <vt:lpstr>Headline Two Column Stat on White Background</vt:lpstr>
      <vt:lpstr>Headline Two Column Stat on Twilight Background</vt:lpstr>
      <vt:lpstr>Headline Single Stat on White Background</vt:lpstr>
      <vt:lpstr>Headline Single Stat on Twilight Background</vt:lpstr>
      <vt:lpstr>Headline Callout on Left</vt:lpstr>
      <vt:lpstr>Headline Callout on Left</vt:lpstr>
      <vt:lpstr>Headline Object Example Page</vt:lpstr>
      <vt:lpstr>Headline Orange Background with Numbered List</vt:lpstr>
      <vt:lpstr>Headline White Background with Numbered List</vt:lpstr>
      <vt:lpstr>Headline Orange Background with Numbered List</vt:lpstr>
      <vt:lpstr>Circle Graphic Design 1</vt:lpstr>
      <vt:lpstr>Circle Graphic Design 2</vt:lpstr>
      <vt:lpstr>Circle Graphic Design 3</vt:lpstr>
      <vt:lpstr>Circle Graphic Design 4</vt:lpstr>
      <vt:lpstr>Circle Graphic Design 5</vt:lpstr>
      <vt:lpstr>Circle Graphic Design 5</vt:lpstr>
      <vt:lpstr>Pie Chart Example Copy on Right</vt:lpstr>
      <vt:lpstr>Bar Chart (1) Example Copy on Right</vt:lpstr>
      <vt:lpstr>Bar Chart (2) Example Copy on Right</vt:lpstr>
      <vt:lpstr>Bar Chart (3) Example Design</vt:lpstr>
      <vt:lpstr>Bar Chart (4) Example Design </vt:lpstr>
      <vt:lpstr>Side Pie Chart wraps to two lines </vt:lpstr>
      <vt:lpstr>Side Pie Chart wraps to two lines </vt:lpstr>
      <vt:lpstr>Table Design 1</vt:lpstr>
      <vt:lpstr>Table Design 2</vt:lpstr>
      <vt:lpstr>Quote Design</vt:lpstr>
      <vt:lpstr>At vero eos et accusamus et iusto odio dignissimos ducimus qui blanditiis praesentium voluptatum deleniti atque corrupti quos dolores et quas molestias excepturi sint occaecati cupiditate</vt:lpstr>
      <vt:lpstr>At vero eos et accusamus et iusto odio dignissimos ducimus qui blanditiis praesentium voluptatum deleniti atque corrupti quos dolores et quas molestias excepturi sint occaecati cupiditate</vt:lpstr>
      <vt:lpstr>At vero eos et accusamus et iusto odio dignissimos ducimus qui blanditiis praesentium voluptatum deleniti atque corrupti quos dolores et quas molestias excepturi sint occaecati cupiditate</vt:lpstr>
      <vt:lpstr>Cloudera’s Data &amp; AI Evolution</vt:lpstr>
      <vt:lpstr>Headline </vt:lpstr>
      <vt:lpstr>Images for use</vt:lpstr>
      <vt:lpstr>Icons: 2 color</vt:lpstr>
      <vt:lpstr>Icons: 2 color</vt:lpstr>
      <vt:lpstr>Icons: 2 color</vt:lpstr>
      <vt:lpstr>Icons: Twilight</vt:lpstr>
      <vt:lpstr>Icons: Twilight</vt:lpstr>
      <vt:lpstr>Icons: Twilight</vt:lpstr>
      <vt:lpstr>Icons: White</vt:lpstr>
      <vt:lpstr>Icons: White</vt:lpstr>
      <vt:lpstr>Icons: White</vt:lpstr>
      <vt:lpstr>Appendices</vt:lpstr>
      <vt:lpstr>This is a double title headline  for a presentation cover</vt:lpstr>
      <vt:lpstr>This is a double title headline  for a presentation cover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Jendoubi</cp:lastModifiedBy>
  <cp:revision>16</cp:revision>
  <dcterms:modified xsi:type="dcterms:W3CDTF">2025-02-26T10:05:06Z</dcterms:modified>
</cp:coreProperties>
</file>