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3"/>
  </p:notesMasterIdLst>
  <p:sldIdLst>
    <p:sldId id="258" r:id="rId4"/>
    <p:sldId id="270" r:id="rId16"/>
    <p:sldId id="281" r:id="rId27"/>
    <p:sldId id="293" r:id="rId39"/>
    <p:sldId id="300" r:id="rId46"/>
    <p:sldId id="305" r:id="rId51"/>
    <p:sldId id="272" r:id="rId18"/>
    <p:sldId id="295" r:id="rId41"/>
    <p:sldId id="346" r:id="rId92"/>
  </p:sldIdLst>
  <p:sldSz cx="9144000" cy="5143500" type="screen16x9"/>
  <p:notesSz cx="6858000" cy="9144000"/>
  <p:embeddedFontLst>
    <p:embeddedFont>
      <p:font typeface="Ole" panose="020B0604020202020204" charset="0"/>
      <p:regular r:id="rId94"/>
    </p:embeddedFont>
    <p:embeddedFont>
      <p:font typeface="Plus Jakarta Sans" panose="020B0604020202020204" charset="0"/>
      <p:regular r:id="rId95"/>
      <p:bold r:id="rId96"/>
      <p:italic r:id="rId97"/>
      <p:boldItalic r:id="rId98"/>
    </p:embeddedFont>
    <p:embeddedFont>
      <p:font typeface="Plus Jakarta Sans Medium" panose="020B0604020202020204" charset="0"/>
      <p:regular r:id="rId99"/>
      <p:bold r:id="rId100"/>
      <p:italic r:id="rId101"/>
      <p:boldItalic r:id="rId102"/>
    </p:embeddedFont>
    <p:embeddedFont>
      <p:font typeface="Plus Jakarta Sans SemiBold" panose="020B0604020202020204" charset="0"/>
      <p:regular r:id="rId103"/>
      <p:bold r:id="rId104"/>
      <p:italic r:id="rId105"/>
      <p:boldItalic r:id="rId106"/>
    </p:embeddedFont>
    <p:embeddedFont>
      <p:font typeface="Times" panose="02020603050405020304" pitchFamily="18" charset="0"/>
      <p:regular r:id="rId107"/>
      <p:bold r:id="rId108"/>
      <p:italic r:id="rId109"/>
      <p:boldItalic r:id="rId1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1" roundtripDataSignature="AMtx7miLSRnOSmhY2gyh+kCXJIdXkge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79CD32-E933-4B66-8D35-4C9BEE16DE1A}">
  <a:tblStyle styleId="{FD79CD32-E933-4B66-8D35-4C9BEE16DE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3A5DC57-7C82-4F3E-A7F8-03993498D4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9E6"/>
          </a:solidFill>
        </a:fill>
      </a:tcStyle>
    </a:wholeTbl>
    <a:band1H>
      <a:tcTxStyle b="off" i="off"/>
      <a:tcStyle>
        <a:tcBdr/>
        <a:fill>
          <a:solidFill>
            <a:srgbClr val="FFD0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D0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78" autoAdjust="0"/>
  </p:normalViewPr>
  <p:slideViewPr>
    <p:cSldViewPr snapToGrid="0">
      <p:cViewPr>
        <p:scale>
          <a:sx n="66" d="100"/>
          <a:sy n="66" d="100"/>
        </p:scale>
        <p:origin x="1238" y="955"/>
      </p:cViewPr>
      <p:guideLst>
        <p:guide orient="horz" pos="3204"/>
        <p:guide orient="horz" pos="1476"/>
        <p:guide orient="horz" pos="804"/>
        <p:guide orient="horz" pos="276"/>
        <p:guide orient="horz" pos="468"/>
        <p:guide pos="5712"/>
        <p:guide pos="5376"/>
        <p:guide pos="2880"/>
        <p:guide pos="48"/>
        <p:guide pos="336"/>
        <p:guide pos="3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27" Type="http://schemas.openxmlformats.org/officeDocument/2006/relationships/slide" Target="slides/slide26.xml"/><Relationship Id="rId39" Type="http://schemas.openxmlformats.org/officeDocument/2006/relationships/slide" Target="slides/slide38.xml"/><Relationship Id="rId41" Type="http://schemas.openxmlformats.org/officeDocument/2006/relationships/slide" Target="slides/slide40.xml"/><Relationship Id="rId46" Type="http://schemas.openxmlformats.org/officeDocument/2006/relationships/slide" Target="slides/slide45.xml"/><Relationship Id="rId51" Type="http://schemas.openxmlformats.org/officeDocument/2006/relationships/slide" Target="slides/slide50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font" Target="fonts/font7.fntdata"/><Relationship Id="rId101" Type="http://schemas.openxmlformats.org/officeDocument/2006/relationships/font" Target="fonts/font8.fntdata"/><Relationship Id="rId102" Type="http://schemas.openxmlformats.org/officeDocument/2006/relationships/font" Target="fonts/font9.fntdata"/><Relationship Id="rId103" Type="http://schemas.openxmlformats.org/officeDocument/2006/relationships/font" Target="fonts/font10.fntdata"/><Relationship Id="rId104" Type="http://schemas.openxmlformats.org/officeDocument/2006/relationships/font" Target="fonts/font11.fntdata"/><Relationship Id="rId105" Type="http://schemas.openxmlformats.org/officeDocument/2006/relationships/font" Target="fonts/font12.fntdata"/><Relationship Id="rId106" Type="http://schemas.openxmlformats.org/officeDocument/2006/relationships/font" Target="fonts/font13.fntdata"/><Relationship Id="rId107" Type="http://schemas.openxmlformats.org/officeDocument/2006/relationships/font" Target="fonts/font14.fntdata"/><Relationship Id="rId108" Type="http://schemas.openxmlformats.org/officeDocument/2006/relationships/font" Target="fonts/font15.fntdata"/><Relationship Id="rId109" Type="http://schemas.openxmlformats.org/officeDocument/2006/relationships/font" Target="fonts/font16.fntdata"/><Relationship Id="rId110" Type="http://schemas.openxmlformats.org/officeDocument/2006/relationships/font" Target="fonts/font17.fntdata"/><Relationship Id="rId111" Type="http://customschemas.google.com/relationships/presentationmetadata" Target="metadata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3" name="Google Shape;3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0" name="Google Shape;44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6" name="Google Shape;45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3" name="Google Shape;5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2" name="Google Shape;6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9" name="Google Shape;70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3" name="Google Shape;753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8" name="Google Shape;2118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19" name="Google Shape;2119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| White">
  <p:cSld name="6_Title Only_3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9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9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3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3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Right | Twilight">
  <p:cSld name="4_Custom Layout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4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sz="1300" b="0" i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94"/>
          <p:cNvPicPr preferRelativeResize="0"/>
          <p:nvPr/>
        </p:nvPicPr>
        <p:blipFill rotWithShape="1">
          <a:blip r:embed="rId3">
            <a:alphaModFix/>
          </a:blip>
          <a:srcRect l="36259" t="3129" r="-4649" b="1166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4"/>
          <p:cNvSpPr txBox="1">
            <a:spLocks noGrp="1"/>
          </p:cNvSpPr>
          <p:nvPr>
            <p:ph type="title"/>
          </p:nvPr>
        </p:nvSpPr>
        <p:spPr>
          <a:xfrm>
            <a:off x="6096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4"/>
          <p:cNvSpPr txBox="1">
            <a:spLocks noGrp="1"/>
          </p:cNvSpPr>
          <p:nvPr>
            <p:ph type="body" idx="2"/>
          </p:nvPr>
        </p:nvSpPr>
        <p:spPr>
          <a:xfrm>
            <a:off x="6096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4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Blue Nodes on the Right">
  <p:cSld name="3_Custom Layou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sz="1300" b="0" i="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95"/>
          <p:cNvSpPr txBox="1">
            <a:spLocks noGrp="1"/>
          </p:cNvSpPr>
          <p:nvPr>
            <p:ph type="body" idx="2"/>
          </p:nvPr>
        </p:nvSpPr>
        <p:spPr>
          <a:xfrm>
            <a:off x="6096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95"/>
          <p:cNvPicPr preferRelativeResize="0"/>
          <p:nvPr/>
        </p:nvPicPr>
        <p:blipFill rotWithShape="1">
          <a:blip r:embed="rId3">
            <a:alphaModFix/>
          </a:blip>
          <a:srcRect l="36259" t="3129" r="-4649" b="1166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95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" name="Google Shape;32;p95"/>
          <p:cNvSpPr txBox="1">
            <a:spLocks noGrp="1"/>
          </p:cNvSpPr>
          <p:nvPr>
            <p:ph type="title"/>
          </p:nvPr>
        </p:nvSpPr>
        <p:spPr>
          <a:xfrm>
            <a:off x="6096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White ">
  <p:cSld name="30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6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96"/>
          <p:cNvPicPr preferRelativeResize="0"/>
          <p:nvPr/>
        </p:nvPicPr>
        <p:blipFill rotWithShape="1">
          <a:blip r:embed="rId3">
            <a:alphaModFix/>
          </a:blip>
          <a:srcRect l="108" t="17596" r="31188" b="47312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" name="Google Shape;38;p96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96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sz="2300" b="0" i="0">
                <a:solidFill>
                  <a:srgbClr val="12004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Orange">
  <p:cSld name="38_Title and Content">
    <p:bg>
      <p:bgPr>
        <a:solidFill>
          <a:schemeClr val="accen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7"/>
          <p:cNvPicPr preferRelativeResize="0"/>
          <p:nvPr/>
        </p:nvPicPr>
        <p:blipFill rotWithShape="1">
          <a:blip r:embed="rId2">
            <a:alphaModFix/>
          </a:blip>
          <a:srcRect t="17801" r="31295" b="47334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7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4" name="Google Shape;4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7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Twilight">
  <p:cSld name="44_Title and Content">
    <p:bg>
      <p:bgPr>
        <a:solidFill>
          <a:schemeClr val="dk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8"/>
          <p:cNvPicPr preferRelativeResize="0"/>
          <p:nvPr/>
        </p:nvPicPr>
        <p:blipFill rotWithShape="1">
          <a:blip r:embed="rId2">
            <a:alphaModFix/>
          </a:blip>
          <a:srcRect t="17732" r="31295" b="47181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0" name="Google Shape;5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8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lide | Nodes at the Bottom | Orange">
  <p:cSld name="4_Custom Layout_1_1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4" name="Google Shape;54;p99"/>
          <p:cNvPicPr preferRelativeResize="0"/>
          <p:nvPr/>
        </p:nvPicPr>
        <p:blipFill rotWithShape="1">
          <a:blip r:embed="rId2">
            <a:alphaModFix/>
          </a:blip>
          <a:srcRect l="16421" t="662" r="40903" b="3386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9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6096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body" idx="1"/>
          </p:nvPr>
        </p:nvSpPr>
        <p:spPr>
          <a:xfrm>
            <a:off x="6096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8" name="Google Shape;5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White">
  <p:cSld name="6_Title Only_2_3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0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0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">
  <p:cSld name="6_Title Only_2_3">
    <p:bg>
      <p:bgPr>
        <a:solidFill>
          <a:schemeClr val="accent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0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1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| Twilight">
  <p:cSld name="6_Title Only_3_1_2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0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">
  <p:cSld name="6_Title Only_3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3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0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0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body" idx="3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03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| Twilight">
  <p:cSld name="6_Title Only_3_1_1_1">
    <p:bg>
      <p:bgPr>
        <a:solidFill>
          <a:schemeClr val="dk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0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0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04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04"/>
          <p:cNvSpPr txBox="1">
            <a:spLocks noGrp="1"/>
          </p:cNvSpPr>
          <p:nvPr>
            <p:ph type="body" idx="3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04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">
  <p:cSld name="6_Title 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5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05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96" name="Google Shape;96;p1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05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05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 | Twilight">
  <p:cSld name="6_Title Only_1_2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6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8931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06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103" name="Google Shape;103;p1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0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06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Left">
  <p:cSld name="6_Title Only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7"/>
          <p:cNvSpPr txBox="1">
            <a:spLocks noGrp="1"/>
          </p:cNvSpPr>
          <p:nvPr>
            <p:ph type="body" idx="1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07"/>
          <p:cNvSpPr>
            <a:spLocks noGrp="1"/>
          </p:cNvSpPr>
          <p:nvPr>
            <p:ph type="pic" idx="2"/>
          </p:nvPr>
        </p:nvSpPr>
        <p:spPr>
          <a:xfrm>
            <a:off x="625675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110" name="Google Shape;110;p1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0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7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07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">
  <p:cSld name="7_Title Only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8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8"/>
          <p:cNvSpPr txBox="1">
            <a:spLocks noGrp="1"/>
          </p:cNvSpPr>
          <p:nvPr>
            <p:ph type="body" idx="1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0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8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08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 | Twilight">
  <p:cSld name="7_Title Only_1_3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9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9"/>
          <p:cNvSpPr txBox="1">
            <a:spLocks noGrp="1"/>
          </p:cNvSpPr>
          <p:nvPr>
            <p:ph type="body" idx="1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0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9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09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">
  <p:cSld name="7_Title Only_1_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0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0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10"/>
          <p:cNvSpPr/>
          <p:nvPr/>
        </p:nvSpPr>
        <p:spPr>
          <a:xfrm>
            <a:off x="38794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1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0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10"/>
          <p:cNvSpPr txBox="1">
            <a:spLocks noGrp="1"/>
          </p:cNvSpPr>
          <p:nvPr>
            <p:ph type="body" idx="3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 | Twilight">
  <p:cSld name="7_Title Only_1_2_1">
    <p:bg>
      <p:bgPr>
        <a:solidFill>
          <a:schemeClr val="dk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1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11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1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1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11"/>
          <p:cNvSpPr txBox="1">
            <a:spLocks noGrp="1"/>
          </p:cNvSpPr>
          <p:nvPr>
            <p:ph type="body" idx="3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">
  <p:cSld name="10_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2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12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2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1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12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 | Twilight">
  <p:cSld name="10_Title Only_1">
    <p:bg>
      <p:bgPr>
        <a:solidFill>
          <a:schemeClr val="dk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3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13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13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1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13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ackground Nodes Top Right 2">
  <p:cSld name="32_Title and Content_1">
    <p:bg>
      <p:bgPr>
        <a:solidFill>
          <a:schemeClr val="accen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4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14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63" name="Google Shape;163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White">
  <p:cSld name="7_Title Only_1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5"/>
          <p:cNvSpPr/>
          <p:nvPr/>
        </p:nvSpPr>
        <p:spPr>
          <a:xfrm>
            <a:off x="297925" y="3329814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15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115"/>
          <p:cNvSpPr txBox="1">
            <a:spLocks noGrp="1"/>
          </p:cNvSpPr>
          <p:nvPr>
            <p:ph type="body" idx="1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15"/>
          <p:cNvSpPr txBox="1">
            <a:spLocks noGrp="1"/>
          </p:cNvSpPr>
          <p:nvPr>
            <p:ph type="body" idx="2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15"/>
          <p:cNvSpPr txBox="1">
            <a:spLocks noGrp="1"/>
          </p:cNvSpPr>
          <p:nvPr>
            <p:ph type="body" idx="3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5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1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5"/>
          <p:cNvSpPr txBox="1">
            <a:spLocks noGrp="1"/>
          </p:cNvSpPr>
          <p:nvPr>
            <p:ph type="body" idx="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Twilight">
  <p:cSld name="7_Title Only_1_1_2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116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116"/>
          <p:cNvSpPr txBox="1">
            <a:spLocks noGrp="1"/>
          </p:cNvSpPr>
          <p:nvPr>
            <p:ph type="body" idx="1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16"/>
          <p:cNvSpPr txBox="1">
            <a:spLocks noGrp="1"/>
          </p:cNvSpPr>
          <p:nvPr>
            <p:ph type="body" idx="2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16"/>
          <p:cNvSpPr txBox="1">
            <a:spLocks noGrp="1"/>
          </p:cNvSpPr>
          <p:nvPr>
            <p:ph type="body" idx="3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1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6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1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16"/>
          <p:cNvSpPr txBox="1">
            <a:spLocks noGrp="1"/>
          </p:cNvSpPr>
          <p:nvPr>
            <p:ph type="body" idx="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Twilight">
  <p:cSld name="7_Title Only_1_1_1">
    <p:bg>
      <p:bgPr>
        <a:solidFill>
          <a:schemeClr val="dk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17"/>
          <p:cNvPicPr preferRelativeResize="0"/>
          <p:nvPr/>
        </p:nvPicPr>
        <p:blipFill rotWithShape="1">
          <a:blip r:embed="rId2">
            <a:alphaModFix/>
          </a:blip>
          <a:srcRect b="7628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1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11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8" name="Google Shape;188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11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17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17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17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1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1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Orange">
  <p:cSld name="7_Title Only_1_1_1_1">
    <p:bg>
      <p:bgPr>
        <a:solidFill>
          <a:schemeClr val="accen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118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118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00" name="Google Shape;200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118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18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18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18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White">
  <p:cSld name="7_Title Only_1_1_1_1_1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9"/>
          <p:cNvPicPr preferRelativeResize="0"/>
          <p:nvPr/>
        </p:nvPicPr>
        <p:blipFill rotWithShape="1">
          <a:blip r:embed="rId2">
            <a:alphaModFix/>
          </a:blip>
          <a:srcRect t="426" b="41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1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1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2" name="Google Shape;212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11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119"/>
          <p:cNvSpPr txBox="1">
            <a:spLocks noGrp="1"/>
          </p:cNvSpPr>
          <p:nvPr>
            <p:ph type="body" idx="1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119"/>
          <p:cNvSpPr txBox="1">
            <a:spLocks noGrp="1"/>
          </p:cNvSpPr>
          <p:nvPr>
            <p:ph type="body" idx="2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19"/>
          <p:cNvSpPr txBox="1">
            <a:spLocks noGrp="1"/>
          </p:cNvSpPr>
          <p:nvPr>
            <p:ph type="body" idx="3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1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Nodes Top Right 1">
  <p:cSld name="39_Title and Content_1">
    <p:bg>
      <p:bgPr>
        <a:solidFill>
          <a:schemeClr val="lt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0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20"/>
          <p:cNvSpPr txBox="1">
            <a:spLocks noGrp="1"/>
          </p:cNvSpPr>
          <p:nvPr>
            <p:ph type="ftr" idx="11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1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2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20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7" name="Google Shape;227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ilight Background Nodes Top Right 2">
  <p:cSld name="41_Title and Content_1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1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12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2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1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21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4" name="Google Shape;234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Top Right">
  <p:cSld name="6_Title Only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2"/>
          <p:cNvSpPr txBox="1">
            <a:spLocks noGrp="1"/>
          </p:cNvSpPr>
          <p:nvPr>
            <p:ph type="body" idx="1"/>
          </p:nvPr>
        </p:nvSpPr>
        <p:spPr>
          <a:xfrm>
            <a:off x="533400" y="1370008"/>
            <a:ext cx="80010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1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2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22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1" name="Google Shape;241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| Twilight">
  <p:cSld name="9_Title Only_2">
    <p:bg>
      <p:bgPr>
        <a:solidFill>
          <a:schemeClr val="dk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3"/>
          <p:cNvSpPr txBox="1">
            <a:spLocks noGrp="1"/>
          </p:cNvSpPr>
          <p:nvPr>
            <p:ph type="body" idx="1"/>
          </p:nvPr>
        </p:nvSpPr>
        <p:spPr>
          <a:xfrm>
            <a:off x="533400" y="1370009"/>
            <a:ext cx="2895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1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2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23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Nodes Top Right">
  <p:cSld name="16_Title 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2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24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24"/>
          <p:cNvSpPr txBox="1">
            <a:spLocks noGrp="1"/>
          </p:cNvSpPr>
          <p:nvPr>
            <p:ph type="body" idx="2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254" name="Google Shape;254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Bottom Left">
  <p:cSld name="6_Title Only_2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25"/>
          <p:cNvPicPr preferRelativeResize="0"/>
          <p:nvPr/>
        </p:nvPicPr>
        <p:blipFill rotWithShape="1">
          <a:blip r:embed="rId2">
            <a:alphaModFix amt="30000"/>
          </a:blip>
          <a:srcRect t="24294" r="39649"/>
          <a:stretch/>
        </p:blipFill>
        <p:spPr>
          <a:xfrm rot="10800000">
            <a:off x="-1848" y="1182550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5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80010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2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25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">
  <p:cSld name="7_Title Only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6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26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392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126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2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6"/>
          <p:cNvSpPr txBox="1">
            <a:spLocks noGrp="1"/>
          </p:cNvSpPr>
          <p:nvPr>
            <p:ph type="body" idx="2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">
  <p:cSld name="8_Title Only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7"/>
          <p:cNvSpPr txBox="1">
            <a:spLocks noGrp="1"/>
          </p:cNvSpPr>
          <p:nvPr>
            <p:ph type="title"/>
          </p:nvPr>
        </p:nvSpPr>
        <p:spPr>
          <a:xfrm>
            <a:off x="5715000" y="284253"/>
            <a:ext cx="3124196" cy="6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27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127"/>
          <p:cNvSpPr/>
          <p:nvPr/>
        </p:nvSpPr>
        <p:spPr>
          <a:xfrm>
            <a:off x="381000" y="0"/>
            <a:ext cx="381000" cy="1027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7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2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7"/>
          <p:cNvSpPr txBox="1">
            <a:spLocks noGrp="1"/>
          </p:cNvSpPr>
          <p:nvPr>
            <p:ph type="body" idx="2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 1">
  <p:cSld name="8_Title Only_1">
    <p:bg>
      <p:bgPr>
        <a:solidFill>
          <a:schemeClr val="dk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8"/>
          <p:cNvSpPr txBox="1">
            <a:spLocks noGrp="1"/>
          </p:cNvSpPr>
          <p:nvPr>
            <p:ph type="title"/>
          </p:nvPr>
        </p:nvSpPr>
        <p:spPr>
          <a:xfrm>
            <a:off x="5715000" y="284253"/>
            <a:ext cx="3124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128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2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8"/>
          <p:cNvSpPr txBox="1">
            <a:spLocks noGrp="1"/>
          </p:cNvSpPr>
          <p:nvPr>
            <p:ph type="body" idx="2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 1">
  <p:cSld name="7_Title Only_2">
    <p:bg>
      <p:bgPr>
        <a:solidFill>
          <a:schemeClr val="dk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9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129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1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2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9"/>
          <p:cNvSpPr txBox="1">
            <a:spLocks noGrp="1"/>
          </p:cNvSpPr>
          <p:nvPr>
            <p:ph type="body" idx="2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15_Title Only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0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1" name="Google Shape;291;p1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15_Title Only_1_1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White 3">
  <p:cSld name="6_Title Only_2_3_1_3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3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3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32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 3">
  <p:cSld name="6_Title Only_2_3_4">
    <p:bg>
      <p:bgPr>
        <a:solidFill>
          <a:schemeClr val="accent3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3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33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Twilight">
  <p:cSld name="4_Custom Layout_2_1_1">
    <p:bg>
      <p:bgPr>
        <a:solidFill>
          <a:schemeClr val="dk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6" name="Google Shape;306;p134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sz="1300" b="0" i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134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8" name="Google Shape;308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4"/>
          <p:cNvPicPr preferRelativeResize="0"/>
          <p:nvPr/>
        </p:nvPicPr>
        <p:blipFill rotWithShape="1">
          <a:blip r:embed="rId3">
            <a:alphaModFix/>
          </a:blip>
          <a:srcRect l="-42" t="23551" r="28736" b="9175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4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34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13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White">
  <p:cSld name="4_Custom Layout_2_1"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" name="Google Shape;315;p135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sz="1300" b="0" i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135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7" name="Google Shape;317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35"/>
          <p:cNvPicPr preferRelativeResize="0"/>
          <p:nvPr/>
        </p:nvPicPr>
        <p:blipFill rotWithShape="1">
          <a:blip r:embed="rId3">
            <a:alphaModFix/>
          </a:blip>
          <a:srcRect l="49" t="23652" r="28735" b="9228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5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135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1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">
  <p:cSld name="5_Custom Layou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300"/>
              <a:buFont typeface="Plus Jakarta Sans Medium"/>
              <a:buNone/>
              <a:defRPr sz="2300" b="0" i="0" u="none" strike="noStrike" cap="non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2"/>
          <p:cNvSpPr txBox="1">
            <a:spLocks noGrp="1"/>
          </p:cNvSpPr>
          <p:nvPr>
            <p:ph type="body" idx="1"/>
          </p:nvPr>
        </p:nvSpPr>
        <p:spPr>
          <a:xfrm>
            <a:off x="533400" y="1370013"/>
            <a:ext cx="79819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2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"/>
          <p:cNvSpPr txBox="1">
            <a:spLocks noGrp="1"/>
          </p:cNvSpPr>
          <p:nvPr>
            <p:ph type="title"/>
          </p:nvPr>
        </p:nvSpPr>
        <p:spPr>
          <a:xfrm>
            <a:off x="6096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000"/>
              <a:buFont typeface="Plus Jakarta Sans"/>
              <a:buNone/>
            </a:pPr>
            <a:r>
              <a:rPr lang="en-US"/>
              <a:t>The Value of Cloudera on VAST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6" name="Google Shape;346;p3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None/>
            </a:pPr>
            <a:r>
              <a:rPr lang="en-US">
                <a:solidFill>
                  <a:schemeClr val="dk1"/>
                </a:solidFill>
              </a:rPr>
              <a:t>Thursday, July 9, 2026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Plus Jakarta Sans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47" name="Google Shape;347;p3"/>
          <p:cNvSpPr txBox="1">
            <a:spLocks noGrp="1"/>
          </p:cNvSpPr>
          <p:nvPr>
            <p:ph type="body" idx="2"/>
          </p:nvPr>
        </p:nvSpPr>
        <p:spPr>
          <a:xfrm>
            <a:off x="6096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/>
              <a:t>AI-powered fraud inference, proven on a running application — not slideware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Fraud Moves Faster Than Silos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443" name="Google Shape;443;p15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Why point solutions keep losing ground</a:t>
            </a:r>
            <a:endParaRPr/>
          </a:p>
        </p:txBody>
      </p:sp>
      <p:sp>
        <p:nvSpPr>
          <p:cNvPr id="444" name="Google Shape;444;p15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Fraud teams don't lack models — they lack a platform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The pattern we keep seeing in financial services: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Signals live in the warehouse, GPUs live somewhere else — every retrain starts with a data export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Every extra copy of transaction data adds cost, delay and governance risk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Rules score fast but shallow; offline ML scores deep but late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History ages into cold storage, so models learn from a fraction of the truth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For the fraud &amp; risk team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Catch more, prove it faster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Foundation-model context on every transaction, scored in real time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Three model heads compared live — the lift from AI is measured, not asserted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Retrain on fresh behavior weekly, not quarterly</a:t>
            </a:r>
            <a:endParaRPr/>
          </a:p>
        </p:txBody>
      </p:sp>
      <p:sp>
        <p:nvSpPr>
          <p:cNvPr id="459" name="Google Shape;459;p17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Value, by Audience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460" name="Google Shape;460;p17"/>
          <p:cNvSpPr txBox="1">
            <a:spLocks noGrp="1"/>
          </p:cNvSpPr>
          <p:nvPr>
            <p:ph type="body" idx="3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For the platform &amp; data team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Open, governed, right-sized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Open formats end to end: Parquet on S3 — no lock-in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One governed copy; storage and compute scale independently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US"/>
              <a:t>A single L4 GPU runs the whole pipeline — no exotic infrastructure</a:t>
            </a:r>
            <a:endParaRPr/>
          </a:p>
        </p:txBody>
      </p:sp>
      <p:sp>
        <p:nvSpPr>
          <p:cNvPr id="461" name="Google Shape;461;p17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same platform wins on both sides of the house</a:t>
            </a:r>
            <a:endParaRPr sz="14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Why Cloudera on VAST Data</a:t>
            </a:r>
            <a:endParaRPr/>
          </a:p>
        </p:txBody>
      </p:sp>
      <p:sp>
        <p:nvSpPr>
          <p:cNvPr id="536" name="Google Shape;536;p26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One open lakehouse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Parquet on S3-compatible storage — no proprietary formats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Impala queries the very objects your applications write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External tables let storage and compute scale independently</a:t>
            </a:r>
            <a:endParaRPr/>
          </a:p>
        </p:txBody>
      </p:sp>
      <p:sp>
        <p:nvSpPr>
          <p:cNvPr id="537" name="Google Shape;537;p26"/>
          <p:cNvSpPr txBox="1">
            <a:spLocks noGrp="1"/>
          </p:cNvSpPr>
          <p:nvPr>
            <p:ph type="body" idx="429496729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Three pillars, proven by a working fraud application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endParaRPr/>
          </a:p>
        </p:txBody>
      </p:sp>
      <p:sp>
        <p:nvSpPr>
          <p:cNvPr id="538" name="Google Shape;538;p26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AI where the data lives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GPU training and inference inside Cloudera AI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Data never leaves governance to reach a GPU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Foundation-model scoring on a single, modest L4</a:t>
            </a:r>
            <a:endParaRPr/>
          </a:p>
        </p:txBody>
      </p:sp>
      <p:sp>
        <p:nvSpPr>
          <p:cNvPr id="539" name="Google Shape;539;p26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Exabyte-scale economics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VAST all-flash keeps hot and historical data on one tier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Train on full history, not a sampled window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S3 semantics your teams already operate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8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What This Unlocks</a:t>
            </a:r>
            <a:endParaRPr/>
          </a:p>
        </p:txBody>
      </p:sp>
      <p:sp>
        <p:nvSpPr>
          <p:cNvPr id="647" name="Google Shape;647;p38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Real-time decisions with context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Foundation-model embeddings see behavior that rules and point features miss — and score it in milliseconds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Faster iteration: prepare → embed → retrain is a repeatable platform job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One governed copy of the data serves warehouse SQL, GPU training and BI simultaneously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The same stack generalizes: AML, credit risk, payments abuse, churn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Commodity GPU footprint — the entire pipeline fits one NVIDIA L4</a:t>
            </a:r>
            <a:endParaRPr/>
          </a:p>
        </p:txBody>
      </p:sp>
      <p:sp>
        <p:nvSpPr>
          <p:cNvPr id="649" name="Google Shape;649;p38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accent2"/>
                </a:solidFill>
              </a:rPr>
              <a:t>From a demo pattern to a production fraud program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Getting Started</a:t>
            </a:r>
            <a:endParaRPr/>
          </a:p>
        </p:txBody>
      </p:sp>
      <p:sp>
        <p:nvSpPr>
          <p:cNvPr id="665" name="Google Shape;665;p40"/>
          <p:cNvSpPr txBox="1">
            <a:spLocks noGrp="1"/>
          </p:cNvSpPr>
          <p:nvPr>
            <p:ph type="body" idx="1"/>
          </p:nvPr>
        </p:nvSpPr>
        <p:spPr>
          <a:xfrm>
            <a:off x="533400" y="1370008"/>
            <a:ext cx="80010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Prove it on your data in days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The application deploys as a Cloudera AI prototype: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Stand up the AMP in Cloudera AI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Point it at your VAST S3 namespace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Connect your Impala virtual warehouse — external tables do the rest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Retrain on your own transactions and measure the lift</a:t>
            </a:r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8175" y="323963"/>
            <a:ext cx="2491424" cy="44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3695" r="3695"/>
          <a:stretch/>
        </p:blipFill>
        <p:spPr>
          <a:xfrm>
            <a:off x="6122025" y="684900"/>
            <a:ext cx="1745400" cy="3769500"/>
          </a:xfrm>
          <a:prstGeom prst="roundRect">
            <a:avLst>
              <a:gd name="adj" fmla="val 14577"/>
            </a:avLst>
          </a:prstGeom>
          <a:noFill/>
          <a:ln>
            <a:noFill/>
          </a:ln>
        </p:spPr>
      </p:pic>
      <p:sp>
        <p:nvSpPr>
          <p:cNvPr id="668" name="Google Shape;668;p40"/>
          <p:cNvSpPr txBox="1">
            <a:spLocks noGrp="1"/>
          </p:cNvSpPr>
          <p:nvPr>
            <p:ph type="body" idx="429496729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 working pattern, not a paper architecture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Proof Points from the Running Application</a:t>
            </a:r>
            <a:endParaRPr/>
          </a:p>
        </p:txBody>
      </p:sp>
      <p:graphicFrame>
        <p:nvGraphicFramePr>
          <p:cNvPr id="712" name="Google Shape;712;p45"/>
          <p:cNvGraphicFramePr/>
          <p:nvPr/>
        </p:nvGraphicFramePr>
        <p:xfrm>
          <a:off x="642100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24M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Transactions, one platform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TabFormer card transactions prepared, split and governed entirely inside Cloudera — no copies leaving the lakehouse.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3" name="Google Shape;713;p45"/>
          <p:cNvGraphicFramePr/>
          <p:nvPr/>
        </p:nvGraphicFramePr>
        <p:xfrm>
          <a:off x="5846725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Models, one verdict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Raw-feature, embedding and combined XGBoost heads run side by side, so the lift from AI is measured, not asserted.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accen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4" name="Google Shape;714;p45"/>
          <p:cNvGraphicFramePr/>
          <p:nvPr/>
        </p:nvGraphicFramePr>
        <p:xfrm>
          <a:off x="3244413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512-d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per transaction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Every transaction is scored with a 512-dimension foundation-model embedding — behavioral context rules never see.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accen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5" name="Google Shape;715;p45"/>
          <p:cNvSpPr txBox="1">
            <a:spLocks noGrp="1"/>
          </p:cNvSpPr>
          <p:nvPr>
            <p:ph type="body" idx="2"/>
          </p:nvPr>
        </p:nvSpPr>
        <p:spPr>
          <a:xfrm>
            <a:off x="533400" y="734275"/>
            <a:ext cx="3231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Measured on Cloudera AI over VAST Data S3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One Copy of the Data</a:t>
            </a:r>
            <a:endParaRPr/>
          </a:p>
        </p:txBody>
      </p:sp>
      <p:sp>
        <p:nvSpPr>
          <p:cNvPr id="756" name="Google Shape;756;p50"/>
          <p:cNvSpPr txBox="1">
            <a:spLocks noGrp="1"/>
          </p:cNvSpPr>
          <p:nvPr>
            <p:ph type="body" idx="4294967295"/>
          </p:nvPr>
        </p:nvSpPr>
        <p:spPr>
          <a:xfrm>
            <a:off x="3870050" y="1663575"/>
            <a:ext cx="4233000" cy="20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Transactions land on VAST once and serve every workload in place: Impala SQL for analysts, GPU training for data science, live inference for the fraud desk. No exports, no staging buckets, no reconciliation debt — and governance follows the one copy, not the sprawl.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757" name="Google Shape;757;p50"/>
          <p:cNvGraphicFramePr/>
          <p:nvPr/>
        </p:nvGraphicFramePr>
        <p:xfrm>
          <a:off x="1148200" y="152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32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3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400"/>
                        <a:buFont typeface="Arial"/>
                        <a:buNone/>
                      </a:pPr>
                      <a:r>
                        <a:rPr lang="en-US" sz="64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39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extra copies to move, stage or reconcile</a:t>
                      </a:r>
                      <a:endParaRPr sz="17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8" name="Google Shape;758;p50"/>
          <p:cNvSpPr txBox="1">
            <a:spLocks noGrp="1"/>
          </p:cNvSpPr>
          <p:nvPr>
            <p:ph type="body" idx="2"/>
          </p:nvPr>
        </p:nvSpPr>
        <p:spPr>
          <a:xfrm>
            <a:off x="533400" y="734275"/>
            <a:ext cx="3336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Written once to VAST, used everywhere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91"/>
          <p:cNvSpPr txBox="1">
            <a:spLocks noGrp="1"/>
          </p:cNvSpPr>
          <p:nvPr>
            <p:ph type="title"/>
          </p:nvPr>
        </p:nvSpPr>
        <p:spPr>
          <a:xfrm>
            <a:off x="812500" y="2215225"/>
            <a:ext cx="7518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4100" b="1"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sz="4100" b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6863</Words>
  <Application>Microsoft Office PowerPoint</Application>
  <PresentationFormat>On-screen Show (16:9)</PresentationFormat>
  <Paragraphs>1652</Paragraphs>
  <Slides>91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Ole</vt:lpstr>
      <vt:lpstr>Plus Jakarta Sans Medium</vt:lpstr>
      <vt:lpstr>Times</vt:lpstr>
      <vt:lpstr>Arial</vt:lpstr>
      <vt:lpstr>Plus Jakarta Sans SemiBold</vt:lpstr>
      <vt:lpstr>Plus Jakarta Sans</vt:lpstr>
      <vt:lpstr>Calibri</vt:lpstr>
      <vt:lpstr>Cloudera Brand Theme</vt:lpstr>
      <vt:lpstr>PowerPoint Presentation</vt:lpstr>
      <vt:lpstr>This is a double title headline  for a presentation cover</vt:lpstr>
      <vt:lpstr>This is a double title headline  for a presentation cover</vt:lpstr>
      <vt:lpstr>Transition Page</vt:lpstr>
      <vt:lpstr>Transition Page</vt:lpstr>
      <vt:lpstr>Transition Page </vt:lpstr>
      <vt:lpstr>This is a double title headline  for a transition slide</vt:lpstr>
      <vt:lpstr>Agenda</vt:lpstr>
      <vt:lpstr>Agenda</vt:lpstr>
      <vt:lpstr>Agenda</vt:lpstr>
      <vt:lpstr>Agenda</vt:lpstr>
      <vt:lpstr>Table of Contents</vt:lpstr>
      <vt:lpstr>Table of Contents</vt:lpstr>
      <vt:lpstr>Headline  One Column Text</vt:lpstr>
      <vt:lpstr>Headline  One Column Text </vt:lpstr>
      <vt:lpstr>Headline Two Column Text</vt:lpstr>
      <vt:lpstr>Headline Two Column Text </vt:lpstr>
      <vt:lpstr>Headline  One Column Text With Image on Right</vt:lpstr>
      <vt:lpstr>Headline  One Column Text With Image on Right</vt:lpstr>
      <vt:lpstr>Headline  One Column Text With Image on Left</vt:lpstr>
      <vt:lpstr>Headline  One Column Text With Image on Left</vt:lpstr>
      <vt:lpstr>Headline Left Side Image Right</vt:lpstr>
      <vt:lpstr>Headline Left Side Image Right </vt:lpstr>
      <vt:lpstr>Headline Right Side Image Left</vt:lpstr>
      <vt:lpstr>Headline Right Side Image Left </vt:lpstr>
      <vt:lpstr>Headline  Three Column Text</vt:lpstr>
      <vt:lpstr>Headline  Three Column Text </vt:lpstr>
      <vt:lpstr>Headline  Three Column Table</vt:lpstr>
      <vt:lpstr>Headline  Three Column Table </vt:lpstr>
      <vt:lpstr>Headline  Orange Background</vt:lpstr>
      <vt:lpstr>Headline Quote Image Right</vt:lpstr>
      <vt:lpstr>Headline Quote Image Right</vt:lpstr>
      <vt:lpstr>PowerPoint Presentation</vt:lpstr>
      <vt:lpstr>PowerPoint Presentation</vt:lpstr>
      <vt:lpstr>PowerPoint Presentation</vt:lpstr>
      <vt:lpstr>Headline  White Background</vt:lpstr>
      <vt:lpstr>Headline  Twilight Background</vt:lpstr>
      <vt:lpstr>Headline Orange Pattern on White</vt:lpstr>
      <vt:lpstr>Headline Blue Nova Pattern on White</vt:lpstr>
      <vt:lpstr>Headline Grey Pattern on White</vt:lpstr>
      <vt:lpstr>Headline Grey Pattern on White</vt:lpstr>
      <vt:lpstr>Headline Stats on the Right</vt:lpstr>
      <vt:lpstr>Headline Stats on the Right</vt:lpstr>
      <vt:lpstr>Three Column Stat on White Background</vt:lpstr>
      <vt:lpstr>Three Column Stat on Twilight Background</vt:lpstr>
      <vt:lpstr>Three Column Stat on Orange Background</vt:lpstr>
      <vt:lpstr>Headline Two Column Stat on White Background</vt:lpstr>
      <vt:lpstr>Headline Two Column Stat on Twilight Background</vt:lpstr>
      <vt:lpstr>Headline Single Stat on White Background</vt:lpstr>
      <vt:lpstr>Headline Single Stat on Twilight Background</vt:lpstr>
      <vt:lpstr>Headline Callout on Left</vt:lpstr>
      <vt:lpstr>Headline Callout on Left</vt:lpstr>
      <vt:lpstr>Headline Object Example Page</vt:lpstr>
      <vt:lpstr>Headline Orange Background with Numbered List</vt:lpstr>
      <vt:lpstr>Headline White Background with Numbered List</vt:lpstr>
      <vt:lpstr>Headline Orange Background with Numbered List</vt:lpstr>
      <vt:lpstr>Circle Graphic Design 1</vt:lpstr>
      <vt:lpstr>Circle Graphic Design 2</vt:lpstr>
      <vt:lpstr>Circle Graphic Design 3</vt:lpstr>
      <vt:lpstr>Circle Graphic Design 4</vt:lpstr>
      <vt:lpstr>Circle Graphic Design 5</vt:lpstr>
      <vt:lpstr>Circle Graphic Design 5</vt:lpstr>
      <vt:lpstr>Pie Chart Example Copy on Right</vt:lpstr>
      <vt:lpstr>Bar Chart (1) Example Copy on Right</vt:lpstr>
      <vt:lpstr>Bar Chart (2) Example Copy on Right</vt:lpstr>
      <vt:lpstr>Bar Chart (3) Example Design</vt:lpstr>
      <vt:lpstr>Bar Chart (4) Example Design </vt:lpstr>
      <vt:lpstr>Side Pie Chart wraps to two lines </vt:lpstr>
      <vt:lpstr>Side Pie Chart wraps to two lines </vt:lpstr>
      <vt:lpstr>Table Design 1</vt:lpstr>
      <vt:lpstr>Table Design 2</vt:lpstr>
      <vt:lpstr>Quote Design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Cloudera’s Data &amp; AI Evolution</vt:lpstr>
      <vt:lpstr>Headline </vt:lpstr>
      <vt:lpstr>Images for use</vt:lpstr>
      <vt:lpstr>Icons: 2 color</vt:lpstr>
      <vt:lpstr>Icons: 2 color</vt:lpstr>
      <vt:lpstr>Icons: 2 color</vt:lpstr>
      <vt:lpstr>Icons: Twilight</vt:lpstr>
      <vt:lpstr>Icons: Twilight</vt:lpstr>
      <vt:lpstr>Icons: Twilight</vt:lpstr>
      <vt:lpstr>Icons: White</vt:lpstr>
      <vt:lpstr>Icons: White</vt:lpstr>
      <vt:lpstr>Icons: White</vt:lpstr>
      <vt:lpstr>Appendices</vt:lpstr>
      <vt:lpstr>This is a double title headline  for a presentation cover</vt:lpstr>
      <vt:lpstr>This is a double title headline  for a presentation cover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Jendoubi</cp:lastModifiedBy>
  <cp:revision>16</cp:revision>
  <dcterms:modified xsi:type="dcterms:W3CDTF">2025-02-26T10:05:06Z</dcterms:modified>
</cp:coreProperties>
</file>